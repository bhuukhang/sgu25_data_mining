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7EA41E-641C-44D7-93E3-13DB7D45EF03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73FE8F-4C1F-40CB-A43C-843BC4EB0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02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3FE8F-4C1F-40CB-A43C-843BC4EB067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65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E0BD-8244-B03E-6D27-89AFC6D93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EEF608-5E3B-B781-8D9D-96A433894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8BC38-2DFD-53AC-C128-F4D22833D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8E41C-C53A-4A3D-8C57-E457BC260D4E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63383-33FA-91B9-583C-384B1EE68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558AB-5894-C6BF-5F86-E93AB03D9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D6E5-DD10-44CD-9283-B1BCFAC6F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0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64DC1-D334-A351-E91B-D28085706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706C8-7200-3C6B-4945-05E0A8099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11439-DE59-CDF2-B2E9-7148E8153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8E41C-C53A-4A3D-8C57-E457BC260D4E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1CCD5-49E3-3575-0543-C81093E6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50709-489B-3A50-4A1B-D54906455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D6E5-DD10-44CD-9283-B1BCFAC6F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28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6BAB6-3043-2E4C-8AAA-00DAEAE77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739F4-383A-1BE1-7779-5348BA41A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26CD6-A708-2B03-1C25-E25363CF5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8E41C-C53A-4A3D-8C57-E457BC260D4E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39127-4ED8-90AF-B698-AAF356BE6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CCB33-B048-28F4-50A9-6561442C7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D6E5-DD10-44CD-9283-B1BCFAC6F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165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9B314-5AD2-384F-1320-4FF12109F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41FAD-52B1-1DAF-CEDD-1FD8E65921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288F94-5F82-5F03-C6B9-D0E207FA89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5B3C8-BAA3-AFA1-7774-58769776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8E41C-C53A-4A3D-8C57-E457BC260D4E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730B7-793D-2CC5-21EE-637E11602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FB51F-BF17-BA1B-92B0-20791B779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D6E5-DD10-44CD-9283-B1BCFAC6F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66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FC140-E352-C161-FFEB-D4B6BD46B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091D0-6330-EE64-CE17-1B0E61824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2EC3D-FCC4-EB3C-2246-1A2D7C049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58851-68EC-0021-E374-9E54880FA4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5FBAF2-30F1-416E-A307-C54F467479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CA2757-A671-C03A-B143-6E8A8ACE4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8E41C-C53A-4A3D-8C57-E457BC260D4E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C3276D-558F-D874-0A32-6D790EC50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E730B5-520C-8D6E-17C4-5694B4912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D6E5-DD10-44CD-9283-B1BCFAC6F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399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92F45-69FD-EC00-D5D3-67B1E9C5A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B002DF-BB13-8B6E-3EDD-20E0D4FC8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8E41C-C53A-4A3D-8C57-E457BC260D4E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0E5737-BDDF-D6FE-9BB5-0B8BF65CA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6C6A4F-833E-F19E-74A0-FDDFEB366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D6E5-DD10-44CD-9283-B1BCFAC6F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5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F119B7-7A58-62F2-4470-C79D315C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8E41C-C53A-4A3D-8C57-E457BC260D4E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A73BAE-3E10-DFF7-2094-D531A4A94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D911D-B0F1-5C22-4C29-C6F725688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D6E5-DD10-44CD-9283-B1BCFAC6F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374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47080-4E5A-327C-D312-224BF7FF3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2525A-0BCB-C173-3886-EB26928F7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FB4B48-9FAF-1111-3ED0-DE1BEC33F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48AAC-5E3E-FAD5-0AE4-329279B0A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8E41C-C53A-4A3D-8C57-E457BC260D4E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F21D6-7D98-8BDF-62B3-5526FC6D8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BE5A9-6BF5-1470-B87A-52865F05C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D6E5-DD10-44CD-9283-B1BCFAC6F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204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927A9-F7D8-45E4-C88F-D68B654F1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A86BDE-0F08-74A0-5FA2-80AD45896D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0D3C6-19F9-7421-0FD0-4013F867B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47B1B-39D1-64C0-FFE2-C7830236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8E41C-C53A-4A3D-8C57-E457BC260D4E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71171-DEF8-C8D8-AA29-1CDB2A00E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353A0-B46E-C496-D567-3C3D71FB5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D6E5-DD10-44CD-9283-B1BCFAC6F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18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05BCC-7C29-5BCB-FEF6-F0850EAE6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E067E3-5847-37C5-6F1B-F39DE4AC7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6757A-6834-553F-DDE8-638E1676C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8E41C-C53A-4A3D-8C57-E457BC260D4E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7F31F-C20D-37BE-0804-A1615A1BB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5BC26-6420-A8E2-799A-4656BA71C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D6E5-DD10-44CD-9283-B1BCFAC6F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966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1584CA-A270-12F5-CD79-53EF574AE7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D139EC-62CC-5A8F-C662-DE10EFDEB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0A5C5-4230-5EE4-B269-137B8AB70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8E41C-C53A-4A3D-8C57-E457BC260D4E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821AE-E9E3-59D1-5328-0F25410FA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4990A-E028-608E-3703-D53C3D3FD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D6E5-DD10-44CD-9283-B1BCFAC6F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628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DBAB5E-EBDA-D8FB-38EA-8C16B0C6A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20E50-CDB8-5E41-6728-645BC31A3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C21D3-F4C3-650F-25CA-FFFAF52BFD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18E41C-C53A-4A3D-8C57-E457BC260D4E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C182F-2D00-4038-436F-EED822C71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4E1AF-3FAD-DCF7-6D21-3ADC81F1B1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D6E5-DD10-44CD-9283-B1BCFAC6F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97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FFC92-4852-89DE-7483-C65D3C8A0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26376"/>
            <a:ext cx="12192000" cy="2770732"/>
          </a:xfrm>
        </p:spPr>
        <p:txBody>
          <a:bodyPr>
            <a:normAutofit/>
          </a:bodyPr>
          <a:lstStyle/>
          <a:p>
            <a:r>
              <a:rPr lang="en-US" sz="5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Titanic - Machine Learning from Disaster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6B0349-BC34-75FE-AB83-B389DDA82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4971" y="4788974"/>
            <a:ext cx="5731328" cy="1698172"/>
          </a:xfrm>
        </p:spPr>
        <p:txBody>
          <a:bodyPr>
            <a:normAutofit/>
          </a:bodyPr>
          <a:lstStyle/>
          <a:p>
            <a:pPr lvl="1" algn="l"/>
            <a:r>
              <a:rPr lang="vi-VN" sz="2400" i="1" dirty="0">
                <a:latin typeface="+mj-lt"/>
              </a:rPr>
              <a:t>3123580017 - Biện Hữu Khang</a:t>
            </a:r>
          </a:p>
          <a:p>
            <a:pPr lvl="1" algn="l"/>
            <a:r>
              <a:rPr lang="vi-VN" sz="2400" i="1" dirty="0">
                <a:latin typeface="+mj-lt"/>
              </a:rPr>
              <a:t>3123580021 - Nguyễn Thị Thùy Linh</a:t>
            </a:r>
          </a:p>
          <a:p>
            <a:pPr lvl="1" algn="l"/>
            <a:r>
              <a:rPr lang="vi-VN" sz="2400" i="1" dirty="0">
                <a:latin typeface="+mj-lt"/>
              </a:rPr>
              <a:t>3123580068 -  Mai Hoàng Hải Yến</a:t>
            </a:r>
          </a:p>
          <a:p>
            <a:pPr lvl="1" algn="l"/>
            <a:endParaRPr lang="vi-VN" sz="2400" i="1" dirty="0">
              <a:latin typeface="+mj-lt"/>
            </a:endParaRPr>
          </a:p>
          <a:p>
            <a:pPr lvl="1" algn="l"/>
            <a:endParaRPr lang="en-US" sz="2400" i="1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1ECB09-1C11-2641-0505-DC3E13DD0CF6}"/>
              </a:ext>
            </a:extLst>
          </p:cNvPr>
          <p:cNvSpPr txBox="1"/>
          <p:nvPr/>
        </p:nvSpPr>
        <p:spPr>
          <a:xfrm>
            <a:off x="1333500" y="510056"/>
            <a:ext cx="1028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i="1" dirty="0">
                <a:latin typeface="+mj-lt"/>
              </a:rPr>
              <a:t>Đại học Sài Gòn</a:t>
            </a:r>
            <a:endParaRPr lang="en-US" sz="2400" i="1" dirty="0">
              <a:latin typeface="+mj-lt"/>
            </a:endParaRPr>
          </a:p>
        </p:txBody>
      </p:sp>
      <p:pic>
        <p:nvPicPr>
          <p:cNvPr id="6" name="Picture 5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F973F6AF-F2A3-FCB6-06E8-B93165C6A7E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22881"/>
            <a:ext cx="1904999" cy="1697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78397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0E76F-1E00-8841-43BC-A7C3A5AB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021" y="98653"/>
            <a:ext cx="10515600" cy="1055233"/>
          </a:xfrm>
        </p:spPr>
        <p:txBody>
          <a:bodyPr/>
          <a:lstStyle/>
          <a:p>
            <a:pPr algn="ctr"/>
            <a:r>
              <a:rPr lang="vi-VN" dirty="0"/>
              <a:t>MỤC LỤC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933D1-D50E-6B19-76F9-DA64BB807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828801"/>
            <a:ext cx="10515600" cy="3581399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vi-VN" sz="3200" dirty="0">
                <a:solidFill>
                  <a:schemeClr val="tx1"/>
                </a:solidFill>
                <a:latin typeface="+mj-lt"/>
              </a:rPr>
              <a:t>Giới thiệu</a:t>
            </a:r>
          </a:p>
          <a:p>
            <a:pPr marL="457200" indent="-457200">
              <a:buFont typeface="+mj-lt"/>
              <a:buAutoNum type="arabicPeriod"/>
            </a:pPr>
            <a:r>
              <a:rPr lang="vi-VN" sz="3200" dirty="0">
                <a:solidFill>
                  <a:schemeClr val="tx1"/>
                </a:solidFill>
                <a:latin typeface="+mj-lt"/>
              </a:rPr>
              <a:t>Cấu trúc dữ liệu</a:t>
            </a:r>
          </a:p>
          <a:p>
            <a:pPr marL="457200" indent="-457200">
              <a:buFont typeface="+mj-lt"/>
              <a:buAutoNum type="arabicPeriod"/>
            </a:pPr>
            <a:r>
              <a:rPr lang="vi-VN" sz="3200" dirty="0">
                <a:solidFill>
                  <a:schemeClr val="tx1"/>
                </a:solidFill>
                <a:latin typeface="+mj-lt"/>
              </a:rPr>
              <a:t>Phương pháp đề xuất</a:t>
            </a:r>
          </a:p>
          <a:p>
            <a:pPr marL="457200" indent="-457200">
              <a:buFont typeface="+mj-lt"/>
              <a:buAutoNum type="arabicPeriod"/>
            </a:pPr>
            <a:r>
              <a:rPr lang="vi-VN" sz="3200" dirty="0">
                <a:solidFill>
                  <a:schemeClr val="tx1"/>
                </a:solidFill>
                <a:latin typeface="+mj-lt"/>
              </a:rPr>
              <a:t>Khai phá và xử lý dữ liệu</a:t>
            </a:r>
          </a:p>
          <a:p>
            <a:pPr marL="457200" indent="-457200">
              <a:buFont typeface="+mj-lt"/>
              <a:buAutoNum type="arabicPeriod"/>
            </a:pPr>
            <a:r>
              <a:rPr lang="vi-VN" sz="3200" dirty="0">
                <a:solidFill>
                  <a:schemeClr val="tx1"/>
                </a:solidFill>
                <a:latin typeface="+mj-lt"/>
              </a:rPr>
              <a:t>Chọn đặc trưng</a:t>
            </a:r>
          </a:p>
          <a:p>
            <a:pPr marL="457200" indent="-457200">
              <a:buFont typeface="+mj-lt"/>
              <a:buAutoNum type="arabicPeriod"/>
            </a:pPr>
            <a:r>
              <a:rPr lang="vi-VN" sz="3200" dirty="0">
                <a:solidFill>
                  <a:schemeClr val="tx1"/>
                </a:solidFill>
                <a:latin typeface="+mj-lt"/>
              </a:rPr>
              <a:t>Huấn luyện mô hình</a:t>
            </a:r>
          </a:p>
          <a:p>
            <a:pPr marL="457200" indent="-457200">
              <a:buFont typeface="+mj-lt"/>
              <a:buAutoNum type="arabicPeriod"/>
            </a:pPr>
            <a:r>
              <a:rPr lang="vi-VN" sz="3200" dirty="0">
                <a:solidFill>
                  <a:schemeClr val="tx1"/>
                </a:solidFill>
                <a:latin typeface="+mj-lt"/>
              </a:rPr>
              <a:t>Dự đoán kết quả cho tập test</a:t>
            </a:r>
          </a:p>
          <a:p>
            <a:endParaRPr lang="vi-V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797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BB9DA-D9FA-53A9-0135-D604513A6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0"/>
            <a:ext cx="10515600" cy="1099457"/>
          </a:xfrm>
        </p:spPr>
        <p:txBody>
          <a:bodyPr/>
          <a:lstStyle/>
          <a:p>
            <a:r>
              <a:rPr lang="vi-VN" dirty="0"/>
              <a:t>Giới thiệu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C01C9-8151-7858-BAA1-090B2CBBA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8806"/>
            <a:ext cx="10515600" cy="495730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chemeClr val="tx1"/>
                </a:solidFill>
                <a:latin typeface="+mj-lt"/>
              </a:rPr>
              <a:t>Mục tiêu: Xây dựng và đánh giá mô hình dự đoán khả năng sống sót của hành khách trên tàu Titanic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chemeClr val="tx1"/>
                </a:solidFill>
                <a:latin typeface="+mj-lt"/>
              </a:rPr>
              <a:t>Dữ liệu: Titanic Dataset (Kaggle)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chemeClr val="tx1"/>
                </a:solidFill>
                <a:latin typeface="+mj-lt"/>
              </a:rPr>
              <a:t>Ý nghĩa: Thực hành quy trình xây dựng mô hình dự đoán</a:t>
            </a:r>
            <a:br>
              <a:rPr lang="en-US" dirty="0">
                <a:solidFill>
                  <a:schemeClr val="tx1"/>
                </a:solidFill>
                <a:latin typeface="+mj-lt"/>
              </a:rPr>
            </a:br>
            <a:endParaRPr lang="en-US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94573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4C68D-054D-8272-27DD-AF5746872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9697"/>
            <a:ext cx="10515600" cy="1097629"/>
          </a:xfrm>
        </p:spPr>
        <p:txBody>
          <a:bodyPr/>
          <a:lstStyle/>
          <a:p>
            <a:pPr algn="ctr"/>
            <a:r>
              <a:rPr lang="vi-VN" dirty="0"/>
              <a:t>Cấu trúc dữ liệu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35EA2-58E0-A706-8586-FDC36F8C8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32104" y="1621656"/>
            <a:ext cx="5141844" cy="4282560"/>
          </a:xfrm>
        </p:spPr>
        <p:txBody>
          <a:bodyPr>
            <a:normAutofit/>
          </a:bodyPr>
          <a:lstStyle/>
          <a:p>
            <a:r>
              <a:rPr lang="vi-VN" sz="3200" dirty="0">
                <a:solidFill>
                  <a:schemeClr val="tx1"/>
                </a:solidFill>
                <a:latin typeface="+mj-lt"/>
              </a:rPr>
              <a:t>Bộ dữ liệu có 891 dòng và 12 cột.</a:t>
            </a:r>
          </a:p>
          <a:p>
            <a:r>
              <a:rPr lang="vi-VN" sz="3200" dirty="0">
                <a:solidFill>
                  <a:schemeClr val="tx1"/>
                </a:solidFill>
                <a:latin typeface="+mj-lt"/>
              </a:rPr>
              <a:t>Trong đó có các kiểu dữ liệu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chemeClr val="tx1"/>
                </a:solidFill>
                <a:latin typeface="+mj-lt"/>
              </a:rPr>
              <a:t>5 cột dữ liệu 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chemeClr val="tx1"/>
                </a:solidFill>
                <a:latin typeface="+mj-lt"/>
              </a:rPr>
              <a:t>5 cột dữ liệu object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chemeClr val="tx1"/>
                </a:solidFill>
                <a:latin typeface="+mj-lt"/>
              </a:rPr>
              <a:t>2 cột dữ liệu float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D03A2D-D304-EC42-5A34-580925CDF9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046"/>
          <a:stretch>
            <a:fillRect/>
          </a:stretch>
        </p:blipFill>
        <p:spPr>
          <a:xfrm>
            <a:off x="0" y="1621656"/>
            <a:ext cx="6626087" cy="457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91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1A4A1-540C-FFB7-13E9-14C366DBF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8245"/>
            <a:ext cx="10515600" cy="1036636"/>
          </a:xfrm>
        </p:spPr>
        <p:txBody>
          <a:bodyPr>
            <a:normAutofit/>
          </a:bodyPr>
          <a:lstStyle/>
          <a:p>
            <a:pPr algn="ctr"/>
            <a:r>
              <a:rPr lang="vi-VN" dirty="0"/>
              <a:t>Phương pháp đề xuất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562149-2D78-B715-F2C5-AB1DAB19747C}"/>
              </a:ext>
            </a:extLst>
          </p:cNvPr>
          <p:cNvSpPr/>
          <p:nvPr/>
        </p:nvSpPr>
        <p:spPr>
          <a:xfrm>
            <a:off x="285868" y="2188161"/>
            <a:ext cx="3144253" cy="13154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sz="2400" dirty="0">
                <a:latin typeface="Times  New Roman"/>
              </a:rPr>
              <a:t>Data </a:t>
            </a:r>
            <a:r>
              <a:rPr lang="en-US" sz="2400" dirty="0">
                <a:latin typeface="Times  New Roman"/>
              </a:rPr>
              <a:t>summarization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EE69E-A979-DFD9-B71F-8435DE7C80B0}"/>
              </a:ext>
            </a:extLst>
          </p:cNvPr>
          <p:cNvSpPr/>
          <p:nvPr/>
        </p:nvSpPr>
        <p:spPr>
          <a:xfrm>
            <a:off x="4205920" y="2188161"/>
            <a:ext cx="2456137" cy="12994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 New Roman"/>
              </a:rPr>
              <a:t>EDA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601DFF-A477-ACA5-5F4E-3417A1E0231D}"/>
              </a:ext>
            </a:extLst>
          </p:cNvPr>
          <p:cNvSpPr/>
          <p:nvPr/>
        </p:nvSpPr>
        <p:spPr>
          <a:xfrm>
            <a:off x="7318088" y="2188162"/>
            <a:ext cx="3904535" cy="1315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 New Roman"/>
              </a:rPr>
              <a:t>Feature selection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0809B6-0B61-EDDF-A0EC-BB027DA2E03F}"/>
              </a:ext>
            </a:extLst>
          </p:cNvPr>
          <p:cNvSpPr/>
          <p:nvPr/>
        </p:nvSpPr>
        <p:spPr>
          <a:xfrm>
            <a:off x="7318088" y="4138906"/>
            <a:ext cx="3904535" cy="13154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 New Roman"/>
              </a:rPr>
              <a:t>Model training, evaluation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1BA012-A0DF-092C-39C2-004A9417CC54}"/>
              </a:ext>
            </a:extLst>
          </p:cNvPr>
          <p:cNvSpPr/>
          <p:nvPr/>
        </p:nvSpPr>
        <p:spPr>
          <a:xfrm>
            <a:off x="3253660" y="4138905"/>
            <a:ext cx="3240505" cy="13154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 New Roman"/>
              </a:rPr>
              <a:t>Prediction</a:t>
            </a:r>
            <a:r>
              <a:rPr lang="en-US" dirty="0"/>
              <a:t>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0ED7F25-0FA8-B008-17E2-FE60EA498783}"/>
              </a:ext>
            </a:extLst>
          </p:cNvPr>
          <p:cNvCxnSpPr>
            <a:cxnSpLocks/>
          </p:cNvCxnSpPr>
          <p:nvPr/>
        </p:nvCxnSpPr>
        <p:spPr>
          <a:xfrm flipV="1">
            <a:off x="3430121" y="2829845"/>
            <a:ext cx="775799" cy="8021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122DD56-41C4-059C-8540-37EDFCBECF60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6662057" y="2829845"/>
            <a:ext cx="656031" cy="8022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8E39FC-7481-73CD-2367-D241B00E6A70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9270356" y="3503614"/>
            <a:ext cx="0" cy="635292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D9E05C3-C770-8F46-7935-2A2D9AA4B321}"/>
              </a:ext>
            </a:extLst>
          </p:cNvPr>
          <p:cNvCxnSpPr>
            <a:cxnSpLocks/>
            <a:stCxn id="8" idx="1"/>
            <a:endCxn id="9" idx="3"/>
          </p:cNvCxnSpPr>
          <p:nvPr/>
        </p:nvCxnSpPr>
        <p:spPr>
          <a:xfrm flipH="1">
            <a:off x="6494165" y="4796632"/>
            <a:ext cx="823923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592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296EB-AC06-1C27-8B22-E9BCF678A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9621" y="229937"/>
            <a:ext cx="9144000" cy="1193800"/>
          </a:xfrm>
        </p:spPr>
        <p:txBody>
          <a:bodyPr/>
          <a:lstStyle/>
          <a:p>
            <a:r>
              <a:rPr lang="vi-VN" dirty="0">
                <a:latin typeface="Times  New Roman"/>
              </a:rPr>
              <a:t>Khai phá dữ liệu (EDA)</a:t>
            </a:r>
            <a:endParaRPr lang="en-US" dirty="0">
              <a:latin typeface="Times  New Roman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D8F37-B98A-5548-C9AB-4585E95D9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88168"/>
            <a:ext cx="9144000" cy="3669632"/>
          </a:xfrm>
        </p:spPr>
        <p:txBody>
          <a:bodyPr/>
          <a:lstStyle/>
          <a:p>
            <a:pPr marL="457200" indent="-457200" algn="l">
              <a:buAutoNum type="arabicPeriod"/>
            </a:pPr>
            <a:r>
              <a:rPr lang="vi-VN" sz="3200" dirty="0">
                <a:latin typeface="Times  New Roman"/>
              </a:rPr>
              <a:t>Kiểm tra giá trị trùng lặp</a:t>
            </a:r>
          </a:p>
          <a:p>
            <a:pPr algn="l"/>
            <a:endParaRPr lang="en-US" dirty="0">
              <a:latin typeface="Times 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DEF96E-669B-A518-82DA-D20E5483C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621" y="2294021"/>
            <a:ext cx="10218823" cy="29637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E623A4-3768-7CCD-4966-7B2418ECDEAC}"/>
              </a:ext>
            </a:extLst>
          </p:cNvPr>
          <p:cNvSpPr txBox="1"/>
          <p:nvPr/>
        </p:nvSpPr>
        <p:spPr>
          <a:xfrm>
            <a:off x="986589" y="5731041"/>
            <a:ext cx="10218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latin typeface="Times  New Roman"/>
              </a:rPr>
              <a:t>=&gt;  Không có giá trị trùng  </a:t>
            </a:r>
            <a:endParaRPr lang="en-US" sz="3200" dirty="0">
              <a:latin typeface="Times 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0815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13AD49-84B9-F76E-2748-EB2F14D3C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338"/>
            <a:ext cx="10515600" cy="5471342"/>
          </a:xfrm>
        </p:spPr>
        <p:txBody>
          <a:bodyPr/>
          <a:lstStyle/>
          <a:p>
            <a:pPr marL="0" indent="0" algn="ctr">
              <a:buNone/>
            </a:pPr>
            <a:r>
              <a:rPr lang="vi-VN" sz="4000" dirty="0">
                <a:latin typeface="+mj-lt"/>
              </a:rPr>
              <a:t>2. Kiểm tra giá trị thiếu</a:t>
            </a:r>
          </a:p>
          <a:p>
            <a:pPr marL="0" indent="0">
              <a:buNone/>
            </a:pPr>
            <a:endParaRPr lang="vi-VN" dirty="0"/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4E5D2CD-188E-AAD3-CDCA-2A5556C5FA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6"/>
          <a:stretch>
            <a:fillRect/>
          </a:stretch>
        </p:blipFill>
        <p:spPr bwMode="auto">
          <a:xfrm>
            <a:off x="406105" y="721632"/>
            <a:ext cx="5967788" cy="4557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01A519-956E-0105-0199-D0882ED1C5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799"/>
          <a:stretch>
            <a:fillRect/>
          </a:stretch>
        </p:blipFill>
        <p:spPr>
          <a:xfrm>
            <a:off x="8479971" y="936170"/>
            <a:ext cx="3712029" cy="357051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AB8F67-AB49-334F-8557-8610EB36A7C9}"/>
              </a:ext>
            </a:extLst>
          </p:cNvPr>
          <p:cNvCxnSpPr>
            <a:cxnSpLocks/>
          </p:cNvCxnSpPr>
          <p:nvPr/>
        </p:nvCxnSpPr>
        <p:spPr>
          <a:xfrm>
            <a:off x="6373893" y="2471780"/>
            <a:ext cx="2106078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F2DE7D0-2E12-3677-A8B7-2745B2D89611}"/>
              </a:ext>
            </a:extLst>
          </p:cNvPr>
          <p:cNvSpPr txBox="1"/>
          <p:nvPr/>
        </p:nvSpPr>
        <p:spPr>
          <a:xfrm>
            <a:off x="6459557" y="2071670"/>
            <a:ext cx="22430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dirty="0">
                <a:latin typeface="+mj-lt"/>
              </a:rPr>
              <a:t>Xử lý giá trị thiếu </a:t>
            </a:r>
            <a:endParaRPr lang="en-US" sz="2000" dirty="0">
              <a:latin typeface="+mj-lt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D9A5A67C-74A6-F878-738D-0C8B72BCA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139591"/>
            <a:ext cx="10193169" cy="168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Cabin: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Không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liên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quan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đến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mục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tiêu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dự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đoán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sống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sót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,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nên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loại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bỏ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Embarked: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Tương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tự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Cabin,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loại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bỏ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trong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quá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trình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huấn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luyện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/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chọn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đặc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trưng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Age: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Điền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giá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trị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trung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bình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để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giảm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ảnh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hưởng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đến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giá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trị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ngoại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lai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6382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3DBE7-FD02-3D00-D636-51A45D22A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64" y="174854"/>
            <a:ext cx="10515600" cy="706889"/>
          </a:xfrm>
        </p:spPr>
        <p:txBody>
          <a:bodyPr>
            <a:normAutofit/>
          </a:bodyPr>
          <a:lstStyle/>
          <a:p>
            <a:pPr algn="ctr"/>
            <a:r>
              <a:rPr lang="vi-VN" sz="4000" dirty="0"/>
              <a:t>3. Thống kê mô tả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A21604-64E9-7E4B-1A18-CAB659024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64" y="907731"/>
            <a:ext cx="11349265" cy="4187118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2089DBB5-27C0-00F7-6B82-B8FB48CD5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5447074"/>
            <a:ext cx="5940426" cy="96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  New Roman"/>
              </a:rPr>
              <a:t>Survived: 38,4% </a:t>
            </a:r>
            <a:r>
              <a:rPr lang="en-US" altLang="en-US" sz="2000" dirty="0" err="1">
                <a:latin typeface="Times   New Roman"/>
              </a:rPr>
              <a:t>sống</a:t>
            </a:r>
            <a:r>
              <a:rPr lang="en-US" altLang="en-US" sz="2000" dirty="0">
                <a:latin typeface="Times   New Roman"/>
              </a:rPr>
              <a:t> </a:t>
            </a:r>
            <a:r>
              <a:rPr lang="en-US" altLang="en-US" sz="2000" dirty="0" err="1">
                <a:latin typeface="Times   New Roman"/>
              </a:rPr>
              <a:t>sót</a:t>
            </a:r>
            <a:r>
              <a:rPr lang="en-US" altLang="en-US" sz="2000" dirty="0">
                <a:latin typeface="Times   New Roman"/>
              </a:rPr>
              <a:t> → </a:t>
            </a:r>
            <a:r>
              <a:rPr lang="en-US" altLang="en-US" sz="2000" dirty="0" err="1">
                <a:latin typeface="Times   New Roman"/>
              </a:rPr>
              <a:t>mất</a:t>
            </a:r>
            <a:r>
              <a:rPr lang="en-US" altLang="en-US" sz="2000" dirty="0">
                <a:latin typeface="Times   New Roman"/>
              </a:rPr>
              <a:t> </a:t>
            </a:r>
            <a:r>
              <a:rPr lang="en-US" altLang="en-US" sz="2000" dirty="0" err="1">
                <a:latin typeface="Times   New Roman"/>
              </a:rPr>
              <a:t>cân</a:t>
            </a:r>
            <a:r>
              <a:rPr lang="en-US" altLang="en-US" sz="2000" dirty="0">
                <a:latin typeface="Times   New Roman"/>
              </a:rPr>
              <a:t> </a:t>
            </a:r>
            <a:r>
              <a:rPr lang="en-US" altLang="en-US" sz="2000" dirty="0" err="1">
                <a:latin typeface="Times   New Roman"/>
              </a:rPr>
              <a:t>bằng</a:t>
            </a:r>
            <a:r>
              <a:rPr lang="en-US" altLang="en-US" sz="2000" dirty="0">
                <a:latin typeface="Times   New Roman"/>
              </a:rPr>
              <a:t> </a:t>
            </a:r>
            <a:r>
              <a:rPr lang="en-US" altLang="en-US" sz="2000" dirty="0" err="1">
                <a:latin typeface="Times   New Roman"/>
              </a:rPr>
              <a:t>nhãn</a:t>
            </a:r>
            <a:r>
              <a:rPr lang="en-US" altLang="en-US" sz="2000" dirty="0">
                <a:latin typeface="Times   New Roman"/>
              </a:rPr>
              <a:t>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err="1">
                <a:latin typeface="Times   New Roman"/>
              </a:rPr>
              <a:t>Pclass</a:t>
            </a:r>
            <a:r>
              <a:rPr lang="en-US" altLang="en-US" sz="2000" dirty="0">
                <a:latin typeface="Times   New Roman"/>
              </a:rPr>
              <a:t>: </a:t>
            </a:r>
            <a:r>
              <a:rPr lang="en-US" altLang="en-US" sz="2000" dirty="0" err="1">
                <a:latin typeface="Times   New Roman"/>
              </a:rPr>
              <a:t>Chủ</a:t>
            </a:r>
            <a:r>
              <a:rPr lang="en-US" altLang="en-US" sz="2000" dirty="0">
                <a:latin typeface="Times   New Roman"/>
              </a:rPr>
              <a:t> </a:t>
            </a:r>
            <a:r>
              <a:rPr lang="en-US" altLang="en-US" sz="2000" dirty="0" err="1">
                <a:latin typeface="Times   New Roman"/>
              </a:rPr>
              <a:t>yếu</a:t>
            </a:r>
            <a:r>
              <a:rPr lang="en-US" altLang="en-US" sz="2000" dirty="0">
                <a:latin typeface="Times   New Roman"/>
              </a:rPr>
              <a:t> </a:t>
            </a:r>
            <a:r>
              <a:rPr lang="en-US" altLang="en-US" sz="2000" dirty="0" err="1">
                <a:latin typeface="Times   New Roman"/>
              </a:rPr>
              <a:t>vé</a:t>
            </a:r>
            <a:r>
              <a:rPr lang="en-US" altLang="en-US" sz="2000" dirty="0">
                <a:latin typeface="Times   New Roman"/>
              </a:rPr>
              <a:t> </a:t>
            </a:r>
            <a:r>
              <a:rPr lang="en-US" altLang="en-US" sz="2000" dirty="0" err="1">
                <a:latin typeface="Times   New Roman"/>
              </a:rPr>
              <a:t>hạng</a:t>
            </a:r>
            <a:r>
              <a:rPr lang="en-US" altLang="en-US" sz="2000" dirty="0">
                <a:latin typeface="Times   New Roman"/>
              </a:rPr>
              <a:t> 2, </a:t>
            </a:r>
            <a:r>
              <a:rPr lang="en-US" altLang="en-US" sz="2000" dirty="0" err="1">
                <a:latin typeface="Times   New Roman"/>
              </a:rPr>
              <a:t>ít</a:t>
            </a:r>
            <a:r>
              <a:rPr lang="en-US" altLang="en-US" sz="2000" dirty="0">
                <a:latin typeface="Times   New Roman"/>
              </a:rPr>
              <a:t> </a:t>
            </a:r>
            <a:r>
              <a:rPr lang="en-US" altLang="en-US" sz="2000" dirty="0" err="1">
                <a:latin typeface="Times   New Roman"/>
              </a:rPr>
              <a:t>hạng</a:t>
            </a:r>
            <a:r>
              <a:rPr lang="en-US" altLang="en-US" sz="2000" dirty="0">
                <a:latin typeface="Times   New Roman"/>
              </a:rPr>
              <a:t> 1.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C9BF42-6A61-F567-B1EA-B57E5F1D88F4}"/>
              </a:ext>
            </a:extLst>
          </p:cNvPr>
          <p:cNvSpPr txBox="1"/>
          <p:nvPr/>
        </p:nvSpPr>
        <p:spPr>
          <a:xfrm>
            <a:off x="5940427" y="5418634"/>
            <a:ext cx="6400795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  New Roman"/>
              </a:rPr>
              <a:t>Age: </a:t>
            </a:r>
            <a:r>
              <a:rPr lang="en-US" altLang="en-US" dirty="0" err="1">
                <a:latin typeface="Times   New Roman"/>
              </a:rPr>
              <a:t>Phân</a:t>
            </a:r>
            <a:r>
              <a:rPr lang="en-US" altLang="en-US" dirty="0">
                <a:latin typeface="Times   New Roman"/>
              </a:rPr>
              <a:t> </a:t>
            </a:r>
            <a:r>
              <a:rPr lang="en-US" altLang="en-US" dirty="0" err="1">
                <a:latin typeface="Times   New Roman"/>
              </a:rPr>
              <a:t>tán</a:t>
            </a:r>
            <a:r>
              <a:rPr lang="en-US" altLang="en-US" dirty="0">
                <a:latin typeface="Times   New Roman"/>
              </a:rPr>
              <a:t> </a:t>
            </a:r>
            <a:r>
              <a:rPr lang="en-US" altLang="en-US" dirty="0" err="1">
                <a:latin typeface="Times   New Roman"/>
              </a:rPr>
              <a:t>lớn</a:t>
            </a:r>
            <a:r>
              <a:rPr lang="en-US" altLang="en-US" dirty="0">
                <a:latin typeface="Times   New Roman"/>
              </a:rPr>
              <a:t> → chia </a:t>
            </a:r>
            <a:r>
              <a:rPr lang="en-US" altLang="en-US" dirty="0" err="1">
                <a:latin typeface="Times   New Roman"/>
              </a:rPr>
              <a:t>nhóm</a:t>
            </a:r>
            <a:r>
              <a:rPr lang="en-US" altLang="en-US" dirty="0">
                <a:latin typeface="Times   New Roman"/>
              </a:rPr>
              <a:t> </a:t>
            </a:r>
            <a:r>
              <a:rPr lang="en-US" altLang="en-US" dirty="0" err="1">
                <a:latin typeface="Times   New Roman"/>
              </a:rPr>
              <a:t>tuổi</a:t>
            </a:r>
            <a:r>
              <a:rPr lang="en-US" altLang="en-US" dirty="0">
                <a:latin typeface="Times   New Roman"/>
              </a:rPr>
              <a:t> (0–12, 13–19, 20–40, 40+).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  New Roman"/>
              </a:rPr>
              <a:t>Fare: </a:t>
            </a:r>
            <a:r>
              <a:rPr lang="en-US" altLang="en-US" dirty="0" err="1">
                <a:latin typeface="Times   New Roman"/>
              </a:rPr>
              <a:t>Lệch</a:t>
            </a:r>
            <a:r>
              <a:rPr lang="en-US" altLang="en-US" dirty="0">
                <a:latin typeface="Times   New Roman"/>
              </a:rPr>
              <a:t>, </a:t>
            </a:r>
            <a:r>
              <a:rPr lang="en-US" altLang="en-US" dirty="0" err="1">
                <a:latin typeface="Times   New Roman"/>
              </a:rPr>
              <a:t>có</a:t>
            </a:r>
            <a:r>
              <a:rPr lang="en-US" altLang="en-US" dirty="0">
                <a:latin typeface="Times   New Roman"/>
              </a:rPr>
              <a:t> </a:t>
            </a:r>
            <a:r>
              <a:rPr lang="en-US" altLang="en-US" dirty="0" err="1">
                <a:latin typeface="Times   New Roman"/>
              </a:rPr>
              <a:t>ngoại</a:t>
            </a:r>
            <a:r>
              <a:rPr lang="en-US" altLang="en-US" dirty="0">
                <a:latin typeface="Times   New Roman"/>
              </a:rPr>
              <a:t> </a:t>
            </a:r>
            <a:r>
              <a:rPr lang="en-US" altLang="en-US" dirty="0" err="1">
                <a:latin typeface="Times   New Roman"/>
              </a:rPr>
              <a:t>lệ</a:t>
            </a:r>
            <a:r>
              <a:rPr lang="en-US" altLang="en-US" dirty="0">
                <a:latin typeface="Times   New Roman"/>
              </a:rPr>
              <a:t> → </a:t>
            </a:r>
            <a:r>
              <a:rPr lang="en-US" altLang="en-US" dirty="0" err="1">
                <a:latin typeface="Times   New Roman"/>
              </a:rPr>
              <a:t>nên</a:t>
            </a:r>
            <a:r>
              <a:rPr lang="en-US" altLang="en-US" dirty="0">
                <a:latin typeface="Times   New Roman"/>
              </a:rPr>
              <a:t> </a:t>
            </a:r>
            <a:r>
              <a:rPr lang="en-US" altLang="en-US" dirty="0" err="1">
                <a:latin typeface="Times   New Roman"/>
              </a:rPr>
              <a:t>chuẩn</a:t>
            </a:r>
            <a:r>
              <a:rPr lang="en-US" altLang="en-US" dirty="0">
                <a:latin typeface="Times   New Roman"/>
              </a:rPr>
              <a:t> </a:t>
            </a:r>
            <a:r>
              <a:rPr lang="en-US" altLang="en-US" dirty="0" err="1">
                <a:latin typeface="Times   New Roman"/>
              </a:rPr>
              <a:t>hóa</a:t>
            </a:r>
            <a:r>
              <a:rPr lang="en-US" altLang="en-US" dirty="0">
                <a:latin typeface="Times   New Roman"/>
              </a:rPr>
              <a:t>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03EA69B-F7AE-AC19-441C-07135CDAB0B0}"/>
              </a:ext>
            </a:extLst>
          </p:cNvPr>
          <p:cNvCxnSpPr/>
          <p:nvPr/>
        </p:nvCxnSpPr>
        <p:spPr>
          <a:xfrm>
            <a:off x="5657397" y="5230301"/>
            <a:ext cx="0" cy="1404257"/>
          </a:xfrm>
          <a:prstGeom prst="line">
            <a:avLst/>
          </a:prstGeom>
          <a:ln w="28575"/>
          <a:effectLst>
            <a:innerShdw blurRad="114300">
              <a:prstClr val="black"/>
            </a:innerShdw>
          </a:effectLst>
          <a:scene3d>
            <a:camera prst="isometricLeftDown"/>
            <a:lightRig rig="threePt" dir="t"/>
          </a:scene3d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239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8021485-B240-8D8E-FDAF-FA1377122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793" y="294596"/>
            <a:ext cx="10515600" cy="608918"/>
          </a:xfrm>
        </p:spPr>
        <p:txBody>
          <a:bodyPr>
            <a:noAutofit/>
          </a:bodyPr>
          <a:lstStyle/>
          <a:p>
            <a:pPr algn="ctr"/>
            <a:r>
              <a:rPr lang="vi-VN" sz="4000" dirty="0"/>
              <a:t>3. Thống kê mô tả</a:t>
            </a:r>
            <a:endParaRPr lang="en-US" sz="4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E334C98-830B-DD6E-5F84-34ACE0115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92" y="1074930"/>
            <a:ext cx="10657312" cy="2242847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EE7B5CF-94DF-488C-4DC3-61E9F6EFB0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720786"/>
              </p:ext>
            </p:extLst>
          </p:nvPr>
        </p:nvGraphicFramePr>
        <p:xfrm>
          <a:off x="646792" y="3646033"/>
          <a:ext cx="10657312" cy="2743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328212">
                  <a:extLst>
                    <a:ext uri="{9D8B030D-6E8A-4147-A177-3AD203B41FA5}">
                      <a16:colId xmlns:a16="http://schemas.microsoft.com/office/drawing/2014/main" val="248607422"/>
                    </a:ext>
                  </a:extLst>
                </a:gridCol>
                <a:gridCol w="5329100">
                  <a:extLst>
                    <a:ext uri="{9D8B030D-6E8A-4147-A177-3AD203B41FA5}">
                      <a16:colId xmlns:a16="http://schemas.microsoft.com/office/drawing/2014/main" val="3520162427"/>
                    </a:ext>
                  </a:extLst>
                </a:gridCol>
              </a:tblGrid>
              <a:tr h="393572">
                <a:tc gridSpan="2">
                  <a:txBody>
                    <a:bodyPr/>
                    <a:lstStyle/>
                    <a:p>
                      <a:pPr algn="ctr"/>
                      <a:r>
                        <a:rPr lang="vi-VN" sz="2400" dirty="0">
                          <a:latin typeface="+mj-lt"/>
                        </a:rPr>
                        <a:t>Phân loại nhóm tuổi </a:t>
                      </a:r>
                      <a:endParaRPr lang="en-US" sz="2400" dirty="0">
                        <a:latin typeface="+mj-l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068447"/>
                  </a:ext>
                </a:extLst>
              </a:tr>
              <a:tr h="393572">
                <a:tc>
                  <a:txBody>
                    <a:bodyPr/>
                    <a:lstStyle/>
                    <a:p>
                      <a:pPr algn="ctr"/>
                      <a:r>
                        <a:rPr lang="vi-VN" sz="2400" dirty="0">
                          <a:latin typeface="+mj-lt"/>
                        </a:rPr>
                        <a:t>0 - 12</a:t>
                      </a:r>
                      <a:endParaRPr lang="en-US" sz="2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400" dirty="0">
                          <a:latin typeface="+mj-lt"/>
                        </a:rPr>
                        <a:t>Trẻ em</a:t>
                      </a:r>
                      <a:endParaRPr lang="en-US" sz="2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925538"/>
                  </a:ext>
                </a:extLst>
              </a:tr>
              <a:tr h="393572">
                <a:tc>
                  <a:txBody>
                    <a:bodyPr/>
                    <a:lstStyle/>
                    <a:p>
                      <a:pPr algn="ctr"/>
                      <a:r>
                        <a:rPr lang="vi-VN" sz="2400" dirty="0">
                          <a:latin typeface="+mj-lt"/>
                        </a:rPr>
                        <a:t>13 – 19</a:t>
                      </a:r>
                      <a:endParaRPr lang="en-US" sz="2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400" dirty="0">
                          <a:latin typeface="+mj-lt"/>
                        </a:rPr>
                        <a:t>Thiếu niên</a:t>
                      </a:r>
                      <a:endParaRPr lang="en-US" sz="2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350082"/>
                  </a:ext>
                </a:extLst>
              </a:tr>
              <a:tr h="393572">
                <a:tc>
                  <a:txBody>
                    <a:bodyPr/>
                    <a:lstStyle/>
                    <a:p>
                      <a:pPr algn="ctr"/>
                      <a:r>
                        <a:rPr lang="vi-VN" sz="2400" dirty="0">
                          <a:latin typeface="+mj-lt"/>
                        </a:rPr>
                        <a:t>20 – 35</a:t>
                      </a:r>
                      <a:endParaRPr lang="en-US" sz="2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400" dirty="0">
                          <a:latin typeface="+mj-lt"/>
                        </a:rPr>
                        <a:t>Thanh niên</a:t>
                      </a:r>
                      <a:endParaRPr lang="en-US" sz="2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159034"/>
                  </a:ext>
                </a:extLst>
              </a:tr>
              <a:tr h="393572">
                <a:tc>
                  <a:txBody>
                    <a:bodyPr/>
                    <a:lstStyle/>
                    <a:p>
                      <a:pPr algn="ctr"/>
                      <a:r>
                        <a:rPr lang="vi-VN" sz="2400" dirty="0">
                          <a:latin typeface="+mj-lt"/>
                        </a:rPr>
                        <a:t>36 – 60</a:t>
                      </a:r>
                      <a:endParaRPr lang="en-US" sz="2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400" dirty="0">
                          <a:latin typeface="+mj-lt"/>
                        </a:rPr>
                        <a:t>Trung niên </a:t>
                      </a:r>
                      <a:endParaRPr lang="en-US" sz="2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452698"/>
                  </a:ext>
                </a:extLst>
              </a:tr>
              <a:tr h="393572">
                <a:tc>
                  <a:txBody>
                    <a:bodyPr/>
                    <a:lstStyle/>
                    <a:p>
                      <a:pPr algn="ctr"/>
                      <a:r>
                        <a:rPr lang="vi-VN" sz="2400" dirty="0">
                          <a:latin typeface="+mj-lt"/>
                        </a:rPr>
                        <a:t>61+</a:t>
                      </a:r>
                      <a:endParaRPr lang="en-US" sz="2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400" dirty="0">
                          <a:latin typeface="+mj-lt"/>
                        </a:rPr>
                        <a:t>Cao tuổi</a:t>
                      </a:r>
                      <a:endParaRPr lang="en-US" sz="2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58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3560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9E930CAB-756E-DF01-81CF-30DAC4039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57" y="0"/>
            <a:ext cx="1174568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3170C7A-49DE-4B51-44E4-5EEE8948E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4286" y="3718376"/>
            <a:ext cx="3804557" cy="26530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Age: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Tập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trung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20–30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tuổi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Fare: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Lệch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phải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nhiều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vé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rẻ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SibSp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/ Parch: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Đa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số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đi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một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mình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FamilySize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: Gia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đình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nhỏ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chiếm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ưu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thế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5280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F0F7A-4505-DC5D-361B-CE878DD9F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3371" y="5715000"/>
            <a:ext cx="9935936" cy="114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b="1" dirty="0">
                <a:latin typeface="+mj-lt"/>
              </a:rPr>
              <a:t>Survived</a:t>
            </a:r>
            <a:r>
              <a:rPr lang="vi-VN" dirty="0">
                <a:latin typeface="+mj-lt"/>
              </a:rPr>
              <a:t>: Tỷ lệ sống sót thấp hơn tử vong → dữ liệu mất cân bằng.</a:t>
            </a:r>
          </a:p>
          <a:p>
            <a:pPr marL="0" indent="0">
              <a:buNone/>
            </a:pPr>
            <a:r>
              <a:rPr lang="vi-VN" b="1" dirty="0">
                <a:latin typeface="+mj-lt"/>
              </a:rPr>
              <a:t>Pclass</a:t>
            </a:r>
            <a:r>
              <a:rPr lang="vi-VN" dirty="0">
                <a:latin typeface="+mj-lt"/>
              </a:rPr>
              <a:t>: Hạng 3 chiếm nhiều nhất, hạng 1 ít nhất.</a:t>
            </a:r>
            <a:endParaRPr lang="en-US" dirty="0">
              <a:latin typeface="+mj-lt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383BBD1-716A-4EE3-4162-93BD25FAC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12039600" cy="561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0491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834D7B35-74E8-DA12-EAF8-44F5537C1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29" y="0"/>
            <a:ext cx="12192000" cy="5529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64" name="TextBox 6163">
            <a:extLst>
              <a:ext uri="{FF2B5EF4-FFF2-40B4-BE49-F238E27FC236}">
                <a16:creationId xmlns:a16="http://schemas.microsoft.com/office/drawing/2014/main" id="{A7AD8C37-8C9D-9102-ED03-6F1EDC267729}"/>
              </a:ext>
            </a:extLst>
          </p:cNvPr>
          <p:cNvSpPr txBox="1"/>
          <p:nvPr/>
        </p:nvSpPr>
        <p:spPr>
          <a:xfrm>
            <a:off x="1786019" y="5529943"/>
            <a:ext cx="8619962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vi-VN" sz="2400" dirty="0">
                <a:latin typeface="+mj-lt"/>
              </a:rPr>
              <a:t>Nữ và trẻ em sống sót nhiều hơn nam.</a:t>
            </a:r>
          </a:p>
          <a:p>
            <a:pPr algn="just">
              <a:spcAft>
                <a:spcPts val="600"/>
              </a:spcAft>
            </a:pPr>
            <a:r>
              <a:rPr lang="vi-VN" sz="2400" dirty="0">
                <a:latin typeface="+mj-lt"/>
              </a:rPr>
              <a:t>Hạng vé 3 tử vong cao nhất do vị trí xa boong tàu, khó thoát nạn.</a:t>
            </a:r>
          </a:p>
        </p:txBody>
      </p:sp>
    </p:spTree>
    <p:extLst>
      <p:ext uri="{BB962C8B-B14F-4D97-AF65-F5344CB8AC3E}">
        <p14:creationId xmlns:p14="http://schemas.microsoft.com/office/powerpoint/2010/main" val="2571962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69" name="Rectangle 616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A graph with a green and blue line&#10;&#10;AI-generated content may be incorrect.">
            <a:extLst>
              <a:ext uri="{FF2B5EF4-FFF2-40B4-BE49-F238E27FC236}">
                <a16:creationId xmlns:a16="http://schemas.microsoft.com/office/drawing/2014/main" id="{B63DFA69-B82A-328E-5F96-8356422BDE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8" b="1588"/>
          <a:stretch>
            <a:fillRect/>
          </a:stretch>
        </p:blipFill>
        <p:spPr bwMode="auto">
          <a:xfrm>
            <a:off x="2696792" y="19677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70" name="Rectangle 616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8ECDE5-C26F-9B21-0C7F-D9671EE7FEBB}"/>
              </a:ext>
            </a:extLst>
          </p:cNvPr>
          <p:cNvSpPr txBox="1"/>
          <p:nvPr/>
        </p:nvSpPr>
        <p:spPr>
          <a:xfrm>
            <a:off x="486992" y="2670343"/>
            <a:ext cx="4419599" cy="155665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sz="2400" i="1" dirty="0" err="1">
                <a:latin typeface="Times   New Roman"/>
              </a:rPr>
              <a:t>Tỷ</a:t>
            </a:r>
            <a:r>
              <a:rPr lang="en-US" sz="2400" i="1" dirty="0">
                <a:latin typeface="Times   New Roman"/>
              </a:rPr>
              <a:t> </a:t>
            </a:r>
            <a:r>
              <a:rPr lang="en-US" sz="2400" i="1" dirty="0" err="1">
                <a:latin typeface="Times   New Roman"/>
              </a:rPr>
              <a:t>lệ</a:t>
            </a:r>
            <a:r>
              <a:rPr lang="en-US" sz="2400" i="1" dirty="0">
                <a:latin typeface="Times   New Roman"/>
              </a:rPr>
              <a:t> </a:t>
            </a:r>
            <a:r>
              <a:rPr lang="en-US" sz="2400" i="1" dirty="0" err="1">
                <a:latin typeface="Times   New Roman"/>
              </a:rPr>
              <a:t>tử</a:t>
            </a:r>
            <a:r>
              <a:rPr lang="en-US" sz="2400" i="1" dirty="0">
                <a:latin typeface="Times   New Roman"/>
              </a:rPr>
              <a:t> </a:t>
            </a:r>
            <a:r>
              <a:rPr lang="en-US" sz="2400" i="1" dirty="0" err="1">
                <a:latin typeface="Times   New Roman"/>
              </a:rPr>
              <a:t>vong</a:t>
            </a:r>
            <a:r>
              <a:rPr lang="en-US" sz="2400" i="1" dirty="0">
                <a:latin typeface="Times   New Roman"/>
              </a:rPr>
              <a:t> </a:t>
            </a:r>
            <a:r>
              <a:rPr lang="en-US" sz="2400" i="1" dirty="0" err="1">
                <a:latin typeface="Times   New Roman"/>
              </a:rPr>
              <a:t>cao</a:t>
            </a:r>
            <a:r>
              <a:rPr lang="en-US" sz="2400" i="1" dirty="0">
                <a:latin typeface="Times   New Roman"/>
              </a:rPr>
              <a:t> </a:t>
            </a:r>
            <a:r>
              <a:rPr lang="en-US" sz="2400" i="1" dirty="0" err="1">
                <a:latin typeface="Times   New Roman"/>
              </a:rPr>
              <a:t>nhất</a:t>
            </a:r>
            <a:r>
              <a:rPr lang="en-US" sz="2400" i="1" dirty="0">
                <a:latin typeface="Times   New Roman"/>
              </a:rPr>
              <a:t> ở </a:t>
            </a:r>
            <a:r>
              <a:rPr lang="en-US" sz="2400" i="1" dirty="0" err="1">
                <a:latin typeface="Times   New Roman"/>
              </a:rPr>
              <a:t>nhóm</a:t>
            </a:r>
            <a:r>
              <a:rPr lang="en-US" sz="2400" i="1" dirty="0">
                <a:latin typeface="Times   New Roman"/>
              </a:rPr>
              <a:t> 20–40 </a:t>
            </a:r>
            <a:r>
              <a:rPr lang="en-US" sz="2400" i="1" dirty="0" err="1">
                <a:latin typeface="Times   New Roman"/>
              </a:rPr>
              <a:t>tuổi</a:t>
            </a:r>
            <a:r>
              <a:rPr lang="en-US" sz="2400" i="1" dirty="0">
                <a:latin typeface="Times   New Roman"/>
              </a:rPr>
              <a:t>, </a:t>
            </a:r>
            <a:r>
              <a:rPr lang="en-US" sz="2400" i="1" dirty="0" err="1">
                <a:latin typeface="Times   New Roman"/>
              </a:rPr>
              <a:t>trong</a:t>
            </a:r>
            <a:r>
              <a:rPr lang="en-US" sz="2400" i="1" dirty="0">
                <a:latin typeface="Times   New Roman"/>
              </a:rPr>
              <a:t> </a:t>
            </a:r>
            <a:r>
              <a:rPr lang="en-US" sz="2400" i="1" dirty="0" err="1">
                <a:latin typeface="Times   New Roman"/>
              </a:rPr>
              <a:t>khi</a:t>
            </a:r>
            <a:r>
              <a:rPr lang="en-US" sz="2400" i="1" dirty="0">
                <a:latin typeface="Times   New Roman"/>
              </a:rPr>
              <a:t> </a:t>
            </a:r>
            <a:r>
              <a:rPr lang="en-US" sz="2400" i="1" dirty="0" err="1">
                <a:latin typeface="Times   New Roman"/>
              </a:rPr>
              <a:t>trẻ</a:t>
            </a:r>
            <a:r>
              <a:rPr lang="en-US" sz="2400" i="1" dirty="0">
                <a:latin typeface="Times   New Roman"/>
              </a:rPr>
              <a:t> </a:t>
            </a:r>
            <a:r>
              <a:rPr lang="en-US" sz="2400" i="1" dirty="0" err="1">
                <a:latin typeface="Times   New Roman"/>
              </a:rPr>
              <a:t>em</a:t>
            </a:r>
            <a:r>
              <a:rPr lang="en-US" sz="2400" i="1" dirty="0">
                <a:latin typeface="Times   New Roman"/>
              </a:rPr>
              <a:t> </a:t>
            </a:r>
            <a:r>
              <a:rPr lang="en-US" sz="2400" i="1" dirty="0" err="1">
                <a:latin typeface="Times   New Roman"/>
              </a:rPr>
              <a:t>và</a:t>
            </a:r>
            <a:r>
              <a:rPr lang="en-US" sz="2400" i="1" dirty="0">
                <a:latin typeface="Times   New Roman"/>
              </a:rPr>
              <a:t> </a:t>
            </a:r>
            <a:r>
              <a:rPr lang="en-US" sz="2400" i="1" dirty="0" err="1">
                <a:latin typeface="Times   New Roman"/>
              </a:rPr>
              <a:t>người</a:t>
            </a:r>
            <a:r>
              <a:rPr lang="en-US" sz="2400" i="1" dirty="0">
                <a:latin typeface="Times   New Roman"/>
              </a:rPr>
              <a:t> </a:t>
            </a:r>
            <a:r>
              <a:rPr lang="en-US" sz="2400" i="1" dirty="0" err="1">
                <a:latin typeface="Times   New Roman"/>
              </a:rPr>
              <a:t>già</a:t>
            </a:r>
            <a:r>
              <a:rPr lang="en-US" sz="2400" i="1" dirty="0">
                <a:latin typeface="Times   New Roman"/>
              </a:rPr>
              <a:t> </a:t>
            </a:r>
            <a:r>
              <a:rPr lang="en-US" sz="2400" i="1" dirty="0" err="1">
                <a:latin typeface="Times   New Roman"/>
              </a:rPr>
              <a:t>có</a:t>
            </a:r>
            <a:r>
              <a:rPr lang="en-US" sz="2400" i="1" dirty="0">
                <a:latin typeface="Times   New Roman"/>
              </a:rPr>
              <a:t> xu </a:t>
            </a:r>
            <a:r>
              <a:rPr lang="en-US" sz="2400" i="1" dirty="0" err="1">
                <a:latin typeface="Times   New Roman"/>
              </a:rPr>
              <a:t>hướng</a:t>
            </a:r>
            <a:r>
              <a:rPr lang="en-US" sz="2400" i="1" dirty="0">
                <a:latin typeface="Times   New Roman"/>
              </a:rPr>
              <a:t> </a:t>
            </a:r>
            <a:r>
              <a:rPr lang="en-US" sz="2400" i="1" dirty="0" err="1">
                <a:latin typeface="Times   New Roman"/>
              </a:rPr>
              <a:t>sống</a:t>
            </a:r>
            <a:r>
              <a:rPr lang="en-US" sz="2400" i="1" dirty="0">
                <a:latin typeface="Times   New Roman"/>
              </a:rPr>
              <a:t> </a:t>
            </a:r>
            <a:r>
              <a:rPr lang="en-US" sz="2400" i="1" dirty="0" err="1">
                <a:latin typeface="Times   New Roman"/>
              </a:rPr>
              <a:t>sót</a:t>
            </a:r>
            <a:r>
              <a:rPr lang="en-US" sz="2400" i="1" dirty="0">
                <a:latin typeface="Times   New Roman"/>
              </a:rPr>
              <a:t> </a:t>
            </a:r>
            <a:r>
              <a:rPr lang="en-US" sz="2400" i="1" dirty="0" err="1">
                <a:latin typeface="Times   New Roman"/>
              </a:rPr>
              <a:t>nhiều</a:t>
            </a:r>
            <a:r>
              <a:rPr lang="en-US" sz="2400" i="1" dirty="0">
                <a:latin typeface="Times   New Roman"/>
              </a:rPr>
              <a:t> </a:t>
            </a:r>
            <a:r>
              <a:rPr lang="en-US" sz="2400" i="1" dirty="0" err="1">
                <a:latin typeface="Times   New Roman"/>
              </a:rPr>
              <a:t>hơn</a:t>
            </a:r>
            <a:r>
              <a:rPr lang="en-US" sz="2400" i="1" dirty="0">
                <a:latin typeface="Times  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8811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185449-5EFD-5A80-661C-F6AA47D0B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008" y="90203"/>
            <a:ext cx="10602933" cy="10064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kern="1200" dirty="0" err="1">
                <a:solidFill>
                  <a:schemeClr val="tx1"/>
                </a:solidFill>
                <a:latin typeface="Times   New Roman"/>
              </a:rPr>
              <a:t>Chọn</a:t>
            </a:r>
            <a:r>
              <a:rPr lang="en-US" sz="6000" kern="1200" dirty="0">
                <a:solidFill>
                  <a:schemeClr val="tx1"/>
                </a:solidFill>
                <a:latin typeface="Times   New Roman"/>
              </a:rPr>
              <a:t> </a:t>
            </a:r>
            <a:r>
              <a:rPr lang="en-US" sz="6000" kern="1200" dirty="0" err="1">
                <a:solidFill>
                  <a:schemeClr val="tx1"/>
                </a:solidFill>
                <a:latin typeface="Times   New Roman"/>
              </a:rPr>
              <a:t>đặc</a:t>
            </a:r>
            <a:r>
              <a:rPr lang="en-US" sz="6000" kern="1200" dirty="0">
                <a:solidFill>
                  <a:schemeClr val="tx1"/>
                </a:solidFill>
                <a:latin typeface="Times   New Roman"/>
              </a:rPr>
              <a:t> </a:t>
            </a:r>
            <a:r>
              <a:rPr lang="en-US" sz="6000" kern="1200" dirty="0" err="1">
                <a:solidFill>
                  <a:schemeClr val="tx1"/>
                </a:solidFill>
                <a:latin typeface="Times   New Roman"/>
              </a:rPr>
              <a:t>trưng</a:t>
            </a:r>
            <a:endParaRPr lang="en-US" sz="6000" kern="1200" dirty="0">
              <a:solidFill>
                <a:schemeClr val="tx1"/>
              </a:solidFill>
              <a:latin typeface="Times   New Roman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36D9F0C-D084-294D-37C2-BD47A9CD5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1235" y="1186882"/>
            <a:ext cx="5981550" cy="518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F10C8C-0CC2-699C-1BD9-62B438910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450" y="1589314"/>
            <a:ext cx="5981549" cy="1839686"/>
          </a:xfrm>
          <a:prstGeom prst="rect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E3C872-E660-6F34-E849-754EE37CF4A5}"/>
              </a:ext>
            </a:extLst>
          </p:cNvPr>
          <p:cNvSpPr txBox="1"/>
          <p:nvPr/>
        </p:nvSpPr>
        <p:spPr>
          <a:xfrm>
            <a:off x="6276715" y="3921636"/>
            <a:ext cx="5734050" cy="23083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vi-VN" sz="2400" b="1" i="1" dirty="0">
                <a:latin typeface="+mj-lt"/>
              </a:rPr>
              <a:t>Pclass</a:t>
            </a:r>
            <a:r>
              <a:rPr lang="vi-VN" sz="2400" i="1" dirty="0">
                <a:latin typeface="+mj-lt"/>
              </a:rPr>
              <a:t> và </a:t>
            </a:r>
            <a:r>
              <a:rPr lang="vi-VN" sz="2400" b="1" i="1" dirty="0">
                <a:latin typeface="+mj-lt"/>
              </a:rPr>
              <a:t>Fare</a:t>
            </a:r>
            <a:r>
              <a:rPr lang="vi-VN" sz="2400" i="1" dirty="0">
                <a:latin typeface="+mj-lt"/>
              </a:rPr>
              <a:t> có ảnh hưởng lớn đến khả năng sống sót.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vi-VN" sz="2400" i="1" dirty="0">
                <a:latin typeface="+mj-lt"/>
              </a:rPr>
              <a:t>Kết hợp yếu tố </a:t>
            </a:r>
            <a:r>
              <a:rPr lang="vi-VN" sz="2400" b="1" i="1" dirty="0">
                <a:latin typeface="+mj-lt"/>
              </a:rPr>
              <a:t>tuổi, giới tính, quy mô gia đình</a:t>
            </a:r>
            <a:endParaRPr lang="vi-VN" sz="2400" i="1" dirty="0">
              <a:latin typeface="+mj-lt"/>
            </a:endParaRPr>
          </a:p>
          <a:p>
            <a:r>
              <a:rPr lang="vi-VN" sz="2400" i="1" dirty="0">
                <a:latin typeface="+mj-lt"/>
              </a:rPr>
              <a:t>=&gt; Chọn đặc trưng: </a:t>
            </a:r>
            <a:r>
              <a:rPr lang="vi-VN" sz="2400" b="1" i="1" dirty="0">
                <a:latin typeface="+mj-lt"/>
              </a:rPr>
              <a:t>Age, Fare, FamilySize, Sex, Pclass_2, Pclass_3.</a:t>
            </a:r>
            <a:endParaRPr lang="en-US" sz="2400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96340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711AB-7F9B-9EEC-D3B1-8F71CB5EB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582" y="169183"/>
            <a:ext cx="10515600" cy="799646"/>
          </a:xfrm>
        </p:spPr>
        <p:txBody>
          <a:bodyPr>
            <a:noAutofit/>
          </a:bodyPr>
          <a:lstStyle/>
          <a:p>
            <a:pPr algn="ctr"/>
            <a:r>
              <a:rPr lang="vi-VN" sz="6000" dirty="0"/>
              <a:t>Huấn luyện mô hình</a:t>
            </a:r>
            <a:endParaRPr lang="en-US" sz="6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BF4AC0-B651-A309-1258-032EAFFB5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82" y="2123457"/>
            <a:ext cx="10402835" cy="17383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034B68-C884-E5CF-97C0-63622EE946FB}"/>
              </a:ext>
            </a:extLst>
          </p:cNvPr>
          <p:cNvSpPr txBox="1"/>
          <p:nvPr/>
        </p:nvSpPr>
        <p:spPr>
          <a:xfrm>
            <a:off x="631371" y="1077686"/>
            <a:ext cx="83493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3200" dirty="0">
                <a:latin typeface="+mj-lt"/>
              </a:rPr>
              <a:t>1. Chuẩn bị dữ liệu huấn luyện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2CD9A20-362B-901B-1BAC-AC9F7D2B4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413" y="4446545"/>
            <a:ext cx="11223172" cy="181588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vi-VN" sz="2800" dirty="0">
                <a:latin typeface="+mj-lt"/>
              </a:rPr>
              <a:t>Đặc trưng đầu vào: </a:t>
            </a:r>
            <a:r>
              <a:rPr lang="vi-VN" sz="2800" b="1" i="1" dirty="0">
                <a:latin typeface="+mj-lt"/>
              </a:rPr>
              <a:t>Age</a:t>
            </a:r>
            <a:r>
              <a:rPr lang="vi-VN" sz="2800" dirty="0">
                <a:latin typeface="+mj-lt"/>
              </a:rPr>
              <a:t>, </a:t>
            </a:r>
            <a:r>
              <a:rPr lang="vi-VN" sz="2800" b="1" i="1" dirty="0">
                <a:latin typeface="+mj-lt"/>
              </a:rPr>
              <a:t>Fare</a:t>
            </a:r>
            <a:r>
              <a:rPr lang="vi-VN" sz="2800" dirty="0">
                <a:latin typeface="+mj-lt"/>
              </a:rPr>
              <a:t>, </a:t>
            </a:r>
            <a:r>
              <a:rPr lang="vi-VN" sz="2800" b="1" i="1" dirty="0">
                <a:latin typeface="+mj-lt"/>
              </a:rPr>
              <a:t>FamilySize</a:t>
            </a:r>
            <a:r>
              <a:rPr lang="vi-VN" sz="2800" dirty="0">
                <a:latin typeface="+mj-lt"/>
              </a:rPr>
              <a:t>, </a:t>
            </a:r>
            <a:r>
              <a:rPr lang="vi-VN" sz="2800" b="1" i="1" dirty="0">
                <a:latin typeface="+mj-lt"/>
              </a:rPr>
              <a:t>Sex</a:t>
            </a:r>
            <a:r>
              <a:rPr lang="vi-VN" sz="2800" dirty="0">
                <a:latin typeface="+mj-lt"/>
              </a:rPr>
              <a:t>, </a:t>
            </a:r>
            <a:r>
              <a:rPr lang="vi-VN" sz="2800" b="1" i="1" dirty="0">
                <a:latin typeface="+mj-lt"/>
              </a:rPr>
              <a:t>Pclass_2</a:t>
            </a:r>
            <a:r>
              <a:rPr lang="vi-VN" sz="2800" dirty="0">
                <a:latin typeface="+mj-lt"/>
              </a:rPr>
              <a:t>, </a:t>
            </a:r>
            <a:r>
              <a:rPr lang="vi-VN" sz="2800" b="1" i="1" dirty="0">
                <a:latin typeface="+mj-lt"/>
              </a:rPr>
              <a:t>Pclass_3</a:t>
            </a:r>
            <a:r>
              <a:rPr lang="vi-VN" sz="2800" dirty="0">
                <a:latin typeface="+mj-lt"/>
              </a:rPr>
              <a:t>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vi-VN" sz="2800" dirty="0">
                <a:latin typeface="+mj-lt"/>
              </a:rPr>
              <a:t>Biến mục tiêu: </a:t>
            </a:r>
            <a:r>
              <a:rPr lang="vi-VN" sz="2800" b="1" i="1" dirty="0">
                <a:latin typeface="+mj-lt"/>
              </a:rPr>
              <a:t>Survived</a:t>
            </a:r>
            <a:r>
              <a:rPr lang="vi-VN" sz="2800" dirty="0">
                <a:latin typeface="+mj-lt"/>
              </a:rPr>
              <a:t> (trạng thái sống sót)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vi-VN" sz="2800" dirty="0">
                <a:latin typeface="+mj-lt"/>
              </a:rPr>
              <a:t>Chia dữ liệu: 80% dùng để huấn luyện 20% dùng để kiểm định mô hình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vi-VN" sz="2800" dirty="0">
                <a:latin typeface="+mj-lt"/>
              </a:rPr>
              <a:t>Sử dụng train_test_split (random_state = 42 để tái lập kết quả) rút gọn hơn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83653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CA20F-60F7-9051-5E76-A0A4ECE69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150"/>
            <a:ext cx="10515600" cy="810531"/>
          </a:xfrm>
        </p:spPr>
        <p:txBody>
          <a:bodyPr>
            <a:normAutofit/>
          </a:bodyPr>
          <a:lstStyle/>
          <a:p>
            <a:r>
              <a:rPr lang="vi-VN" dirty="0"/>
              <a:t>2. Kết quả và so sánh mô hình 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45D6A-52FD-1DED-C28E-297FA168E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7" y="1175656"/>
            <a:ext cx="5606143" cy="4642077"/>
          </a:xfrm>
        </p:spPr>
        <p:txBody>
          <a:bodyPr>
            <a:normAutofit fontScale="25000" lnSpcReduction="20000"/>
          </a:bodyPr>
          <a:lstStyle/>
          <a:p>
            <a:pPr marL="0" indent="0" algn="ctr" latinLnBrk="1">
              <a:buNone/>
            </a:pPr>
            <a:r>
              <a:rPr lang="en-US" sz="7200" dirty="0">
                <a:latin typeface="Times   New Roman"/>
              </a:rPr>
              <a:t>=== Logistic Regression ===</a:t>
            </a:r>
          </a:p>
          <a:p>
            <a:pPr marL="0" indent="0" latinLnBrk="1">
              <a:buNone/>
            </a:pPr>
            <a:r>
              <a:rPr lang="en-US" sz="7200" dirty="0">
                <a:latin typeface="Times   New Roman"/>
              </a:rPr>
              <a:t>Accuracy: 0.7988826815642458</a:t>
            </a:r>
          </a:p>
          <a:p>
            <a:pPr marL="0" indent="0" latinLnBrk="1">
              <a:buNone/>
            </a:pPr>
            <a:r>
              <a:rPr lang="en-US" sz="7200" dirty="0">
                <a:latin typeface="Times   New Roman"/>
              </a:rPr>
              <a:t>Confusion Matrix:</a:t>
            </a:r>
          </a:p>
          <a:p>
            <a:pPr marL="0" indent="0" latinLnBrk="1">
              <a:buNone/>
            </a:pPr>
            <a:r>
              <a:rPr lang="en-US" sz="7200" dirty="0">
                <a:latin typeface="Times   New Roman"/>
              </a:rPr>
              <a:t> [[92 13]</a:t>
            </a:r>
          </a:p>
          <a:p>
            <a:pPr marL="0" indent="0" latinLnBrk="1">
              <a:buNone/>
            </a:pPr>
            <a:r>
              <a:rPr lang="en-US" sz="7200" dirty="0">
                <a:latin typeface="Times   New Roman"/>
              </a:rPr>
              <a:t> [23 51]]</a:t>
            </a:r>
          </a:p>
          <a:p>
            <a:pPr marL="0" indent="0" latinLnBrk="1">
              <a:buNone/>
            </a:pPr>
            <a:r>
              <a:rPr lang="en-US" sz="7200" dirty="0">
                <a:latin typeface="Times   New Roman"/>
              </a:rPr>
              <a:t>Classification Report:</a:t>
            </a:r>
          </a:p>
          <a:p>
            <a:pPr marL="0" indent="0" latinLnBrk="1">
              <a:buNone/>
            </a:pPr>
            <a:r>
              <a:rPr lang="en-US" sz="7200" dirty="0">
                <a:latin typeface="Times   New Roman"/>
              </a:rPr>
              <a:t>               precision    recall  f1-score   support</a:t>
            </a:r>
          </a:p>
          <a:p>
            <a:pPr marL="0" indent="0" latinLnBrk="1">
              <a:buNone/>
            </a:pPr>
            <a:endParaRPr lang="en-US" sz="7200" dirty="0">
              <a:latin typeface="Times   New Roman"/>
            </a:endParaRPr>
          </a:p>
          <a:p>
            <a:pPr marL="0" indent="0" latinLnBrk="1">
              <a:buNone/>
            </a:pPr>
            <a:r>
              <a:rPr lang="en-US" sz="7200" dirty="0">
                <a:latin typeface="Times   New Roman"/>
              </a:rPr>
              <a:t>           0       0.80      0.88      0.84       105</a:t>
            </a:r>
          </a:p>
          <a:p>
            <a:pPr marL="0" indent="0" latinLnBrk="1">
              <a:buNone/>
            </a:pPr>
            <a:r>
              <a:rPr lang="en-US" sz="7200" dirty="0">
                <a:latin typeface="Times   New Roman"/>
              </a:rPr>
              <a:t>           1       0.80      0.69      0.74        74</a:t>
            </a:r>
          </a:p>
          <a:p>
            <a:pPr marL="0" indent="0" latinLnBrk="1">
              <a:buNone/>
            </a:pPr>
            <a:endParaRPr lang="en-US" sz="7200" dirty="0">
              <a:latin typeface="Times   New Roman"/>
            </a:endParaRPr>
          </a:p>
          <a:p>
            <a:pPr marL="0" indent="0" latinLnBrk="1">
              <a:buNone/>
            </a:pPr>
            <a:r>
              <a:rPr lang="en-US" sz="7200" dirty="0">
                <a:latin typeface="Times   New Roman"/>
              </a:rPr>
              <a:t>    accuracy                           0.80       179</a:t>
            </a:r>
          </a:p>
          <a:p>
            <a:pPr marL="0" indent="0" latinLnBrk="1">
              <a:buNone/>
            </a:pPr>
            <a:r>
              <a:rPr lang="en-US" sz="7200" dirty="0">
                <a:latin typeface="Times   New Roman"/>
              </a:rPr>
              <a:t>   macro avg       0.80      0.78      0.79       179</a:t>
            </a:r>
          </a:p>
          <a:p>
            <a:pPr marL="0" indent="0" latinLnBrk="1">
              <a:buNone/>
            </a:pPr>
            <a:r>
              <a:rPr lang="en-US" sz="7200" dirty="0">
                <a:latin typeface="Times   New Roman"/>
              </a:rPr>
              <a:t>weighted avg       0.80      0.80      0.80       179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AF8994-59DF-97FC-BF78-08C6C1228D2A}"/>
              </a:ext>
            </a:extLst>
          </p:cNvPr>
          <p:cNvSpPr txBox="1"/>
          <p:nvPr/>
        </p:nvSpPr>
        <p:spPr>
          <a:xfrm>
            <a:off x="6096000" y="411161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br>
              <a:rPr lang="en-US" b="0" i="0" dirty="0">
                <a:effectLst/>
                <a:latin typeface="Menlo"/>
              </a:rPr>
            </a:br>
            <a:endParaRPr lang="en-US" b="0" i="0" dirty="0">
              <a:effectLst/>
              <a:latin typeface="Menlo"/>
            </a:endParaRPr>
          </a:p>
          <a:p>
            <a:pPr algn="ctr" latinLnBrk="1">
              <a:buNone/>
            </a:pPr>
            <a:r>
              <a:rPr lang="en-US" b="0" i="0" dirty="0">
                <a:effectLst/>
                <a:latin typeface="Times   New Roman"/>
              </a:rPr>
              <a:t>=== Random Forest ===</a:t>
            </a:r>
          </a:p>
          <a:p>
            <a:pPr algn="l" latinLnBrk="1">
              <a:buNone/>
            </a:pPr>
            <a:r>
              <a:rPr lang="en-US" b="0" i="0" dirty="0">
                <a:effectLst/>
                <a:latin typeface="Times   New Roman"/>
              </a:rPr>
              <a:t>Accuracy: 0.8100558659217877</a:t>
            </a:r>
          </a:p>
          <a:p>
            <a:pPr algn="l" latinLnBrk="1">
              <a:buNone/>
            </a:pPr>
            <a:r>
              <a:rPr lang="en-US" b="0" i="0" dirty="0">
                <a:effectLst/>
                <a:latin typeface="Times   New Roman"/>
              </a:rPr>
              <a:t>Confusion Matrix:</a:t>
            </a:r>
          </a:p>
          <a:p>
            <a:pPr algn="l" latinLnBrk="1">
              <a:buNone/>
            </a:pPr>
            <a:r>
              <a:rPr lang="en-US" b="0" i="0" dirty="0">
                <a:effectLst/>
                <a:latin typeface="Times   New Roman"/>
              </a:rPr>
              <a:t> [[89 16]</a:t>
            </a:r>
          </a:p>
          <a:p>
            <a:pPr algn="l" latinLnBrk="1">
              <a:buNone/>
            </a:pPr>
            <a:r>
              <a:rPr lang="en-US" b="0" i="0" dirty="0">
                <a:effectLst/>
                <a:latin typeface="Times   New Roman"/>
              </a:rPr>
              <a:t> [18 56]]</a:t>
            </a:r>
          </a:p>
          <a:p>
            <a:pPr algn="l" latinLnBrk="1">
              <a:buNone/>
            </a:pPr>
            <a:r>
              <a:rPr lang="en-US" b="0" i="0" dirty="0">
                <a:effectLst/>
                <a:latin typeface="Times   New Roman"/>
              </a:rPr>
              <a:t>Classification Report:</a:t>
            </a:r>
          </a:p>
          <a:p>
            <a:pPr algn="l" latinLnBrk="1">
              <a:buNone/>
            </a:pPr>
            <a:r>
              <a:rPr lang="en-US" b="0" i="0" dirty="0">
                <a:effectLst/>
                <a:latin typeface="Times   New Roman"/>
              </a:rPr>
              <a:t>               precision    recall  f1-score   support</a:t>
            </a:r>
          </a:p>
          <a:p>
            <a:pPr algn="l" latinLnBrk="1">
              <a:buNone/>
            </a:pPr>
            <a:endParaRPr lang="en-US" b="0" i="0" dirty="0">
              <a:effectLst/>
              <a:latin typeface="Times   New Roman"/>
            </a:endParaRPr>
          </a:p>
          <a:p>
            <a:pPr algn="l" latinLnBrk="1">
              <a:buNone/>
            </a:pPr>
            <a:r>
              <a:rPr lang="en-US" b="0" i="0" dirty="0">
                <a:effectLst/>
                <a:latin typeface="Times   New Roman"/>
              </a:rPr>
              <a:t>           0       0.83      0.85      0.84       105</a:t>
            </a:r>
          </a:p>
          <a:p>
            <a:pPr algn="l" latinLnBrk="1">
              <a:buNone/>
            </a:pPr>
            <a:r>
              <a:rPr lang="en-US" b="0" i="0" dirty="0">
                <a:effectLst/>
                <a:latin typeface="Times   New Roman"/>
              </a:rPr>
              <a:t>           1       0.78      0.76      0.77        74</a:t>
            </a:r>
          </a:p>
          <a:p>
            <a:pPr algn="l" latinLnBrk="1">
              <a:buNone/>
            </a:pPr>
            <a:endParaRPr lang="en-US" b="0" i="0" dirty="0">
              <a:effectLst/>
              <a:latin typeface="Times   New Roman"/>
            </a:endParaRPr>
          </a:p>
          <a:p>
            <a:pPr algn="l" latinLnBrk="1">
              <a:buNone/>
            </a:pPr>
            <a:r>
              <a:rPr lang="en-US" b="0" i="0" dirty="0">
                <a:effectLst/>
                <a:latin typeface="Times   New Roman"/>
              </a:rPr>
              <a:t>    accuracy                           0.81       179</a:t>
            </a:r>
          </a:p>
          <a:p>
            <a:pPr algn="l" latinLnBrk="1">
              <a:buNone/>
            </a:pPr>
            <a:r>
              <a:rPr lang="en-US" b="0" i="0" dirty="0">
                <a:effectLst/>
                <a:latin typeface="Times   New Roman"/>
              </a:rPr>
              <a:t>   macro avg       0.80      0.80      0.80       179</a:t>
            </a:r>
          </a:p>
          <a:p>
            <a:pPr algn="l" latinLnBrk="1">
              <a:buNone/>
            </a:pPr>
            <a:r>
              <a:rPr lang="en-US" b="0" i="0" dirty="0">
                <a:effectLst/>
                <a:latin typeface="Times   New Roman"/>
              </a:rPr>
              <a:t>weighted avg       0.81      0.81      0.81       179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F28B38-0092-740E-EB13-10BDEE6A8D3C}"/>
              </a:ext>
            </a:extLst>
          </p:cNvPr>
          <p:cNvCxnSpPr>
            <a:cxnSpLocks/>
          </p:cNvCxnSpPr>
          <p:nvPr/>
        </p:nvCxnSpPr>
        <p:spPr>
          <a:xfrm>
            <a:off x="5910943" y="1175656"/>
            <a:ext cx="0" cy="4582887"/>
          </a:xfrm>
          <a:prstGeom prst="lin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1">
            <a:extLst>
              <a:ext uri="{FF2B5EF4-FFF2-40B4-BE49-F238E27FC236}">
                <a16:creationId xmlns:a16="http://schemas.microsoft.com/office/drawing/2014/main" id="{397B9E91-DBB9-64E3-20B0-2AC8CDD5A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833" y="5817733"/>
            <a:ext cx="8376219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vi-VN" altLang="en-US" sz="2800" dirty="0">
                <a:latin typeface="Times   New Roman"/>
              </a:rPr>
              <a:t>=&gt;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Kết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luận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: Random Forest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hoạt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động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tổng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thể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tốt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hơn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 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8937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Rectangle 10246">
            <a:extLst>
              <a:ext uri="{FF2B5EF4-FFF2-40B4-BE49-F238E27FC236}">
                <a16:creationId xmlns:a16="http://schemas.microsoft.com/office/drawing/2014/main" id="{9427AF5F-9A0E-42B7-A252-FD64C988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46584E-1C42-5F75-99FF-A90963381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4" y="37943"/>
            <a:ext cx="10515600" cy="1039743"/>
          </a:xfrm>
        </p:spPr>
        <p:txBody>
          <a:bodyPr>
            <a:normAutofit/>
          </a:bodyPr>
          <a:lstStyle/>
          <a:p>
            <a:pPr algn="ctr"/>
            <a:r>
              <a:rPr lang="vi-VN" sz="4000" dirty="0"/>
              <a:t>Lựa chọn đặc trưng bằng Random Forest</a:t>
            </a:r>
            <a:endParaRPr lang="en-US" sz="4000" dirty="0"/>
          </a:p>
        </p:txBody>
      </p:sp>
      <p:pic>
        <p:nvPicPr>
          <p:cNvPr id="10242" name="Picture 2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3D8711DA-05DB-3C5F-CADB-1F8177928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6" r="2" b="2"/>
          <a:stretch>
            <a:fillRect/>
          </a:stretch>
        </p:blipFill>
        <p:spPr bwMode="auto">
          <a:xfrm>
            <a:off x="250372" y="974271"/>
            <a:ext cx="11484429" cy="4675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1735B9-298D-A88C-5FF1-A5F0CC876678}"/>
              </a:ext>
            </a:extLst>
          </p:cNvPr>
          <p:cNvSpPr txBox="1"/>
          <p:nvPr/>
        </p:nvSpPr>
        <p:spPr>
          <a:xfrm>
            <a:off x="352259" y="6023010"/>
            <a:ext cx="11484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Times   New Roman"/>
              </a:rPr>
              <a:t>Lựa</a:t>
            </a:r>
            <a:r>
              <a:rPr lang="en-US" sz="2400" dirty="0">
                <a:latin typeface="Times   New Roman"/>
              </a:rPr>
              <a:t> </a:t>
            </a:r>
            <a:r>
              <a:rPr lang="en-US" sz="2400" dirty="0" err="1">
                <a:latin typeface="Times   New Roman"/>
              </a:rPr>
              <a:t>chọn</a:t>
            </a:r>
            <a:r>
              <a:rPr lang="en-US" sz="2400" dirty="0">
                <a:latin typeface="Times   New Roman"/>
              </a:rPr>
              <a:t> </a:t>
            </a:r>
            <a:r>
              <a:rPr lang="en-US" sz="2400" dirty="0" err="1">
                <a:latin typeface="Times   New Roman"/>
              </a:rPr>
              <a:t>các</a:t>
            </a:r>
            <a:r>
              <a:rPr lang="en-US" sz="2400" dirty="0">
                <a:latin typeface="Times   New Roman"/>
              </a:rPr>
              <a:t> </a:t>
            </a:r>
            <a:r>
              <a:rPr lang="en-US" sz="2400" dirty="0" err="1">
                <a:latin typeface="Times   New Roman"/>
              </a:rPr>
              <a:t>biến</a:t>
            </a:r>
            <a:r>
              <a:rPr lang="en-US" sz="2400" dirty="0">
                <a:latin typeface="Times   New Roman"/>
              </a:rPr>
              <a:t> </a:t>
            </a:r>
            <a:r>
              <a:rPr lang="en-US" sz="2400" b="1" dirty="0">
                <a:latin typeface="Times   New Roman"/>
              </a:rPr>
              <a:t>Fare, Sex, Age, </a:t>
            </a:r>
            <a:r>
              <a:rPr lang="vi-VN" sz="2400" b="1" dirty="0">
                <a:latin typeface="Times   New Roman"/>
              </a:rPr>
              <a:t>FamilySize, Pclass_3, Pclass_2 </a:t>
            </a:r>
            <a:r>
              <a:rPr lang="vi-VN" sz="2400" dirty="0">
                <a:latin typeface="Times   New Roman"/>
              </a:rPr>
              <a:t>để sự đoán cho tập test</a:t>
            </a:r>
            <a:endParaRPr lang="en-US" sz="2400" dirty="0">
              <a:latin typeface="Times  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8249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404500-C65E-BDEB-F948-8613B23F8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660" y="52928"/>
            <a:ext cx="10175631" cy="11118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Times   New Roman"/>
              </a:rPr>
              <a:t>Dự</a:t>
            </a:r>
            <a:r>
              <a:rPr lang="en-US" sz="4000" kern="1200" dirty="0">
                <a:solidFill>
                  <a:schemeClr val="tx1"/>
                </a:solidFill>
                <a:latin typeface="Times   New Roman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Times   New Roman"/>
              </a:rPr>
              <a:t>đoán</a:t>
            </a:r>
            <a:r>
              <a:rPr lang="en-US" sz="4000" kern="1200" dirty="0">
                <a:solidFill>
                  <a:schemeClr val="tx1"/>
                </a:solidFill>
                <a:latin typeface="Times   New Roman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Times   New Roman"/>
              </a:rPr>
              <a:t>cho</a:t>
            </a:r>
            <a:r>
              <a:rPr lang="en-US" sz="4000" kern="1200" dirty="0">
                <a:solidFill>
                  <a:schemeClr val="tx1"/>
                </a:solidFill>
                <a:latin typeface="Times   New Roman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Times   New Roman"/>
              </a:rPr>
              <a:t>tập</a:t>
            </a:r>
            <a:r>
              <a:rPr lang="en-US" sz="4000" kern="1200" dirty="0">
                <a:solidFill>
                  <a:schemeClr val="tx1"/>
                </a:solidFill>
                <a:latin typeface="Times   New Roman"/>
              </a:rPr>
              <a:t>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B54BAC-66F3-ABD9-4B40-15A194C09D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8055723"/>
              </p:ext>
            </p:extLst>
          </p:nvPr>
        </p:nvGraphicFramePr>
        <p:xfrm>
          <a:off x="-1" y="1012371"/>
          <a:ext cx="8126510" cy="5519781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342805">
                  <a:extLst>
                    <a:ext uri="{9D8B030D-6E8A-4147-A177-3AD203B41FA5}">
                      <a16:colId xmlns:a16="http://schemas.microsoft.com/office/drawing/2014/main" val="3766980487"/>
                    </a:ext>
                  </a:extLst>
                </a:gridCol>
                <a:gridCol w="759251">
                  <a:extLst>
                    <a:ext uri="{9D8B030D-6E8A-4147-A177-3AD203B41FA5}">
                      <a16:colId xmlns:a16="http://schemas.microsoft.com/office/drawing/2014/main" val="3156819312"/>
                    </a:ext>
                  </a:extLst>
                </a:gridCol>
                <a:gridCol w="485534">
                  <a:extLst>
                    <a:ext uri="{9D8B030D-6E8A-4147-A177-3AD203B41FA5}">
                      <a16:colId xmlns:a16="http://schemas.microsoft.com/office/drawing/2014/main" val="927099429"/>
                    </a:ext>
                  </a:extLst>
                </a:gridCol>
                <a:gridCol w="2310852">
                  <a:extLst>
                    <a:ext uri="{9D8B030D-6E8A-4147-A177-3AD203B41FA5}">
                      <a16:colId xmlns:a16="http://schemas.microsoft.com/office/drawing/2014/main" val="1779171027"/>
                    </a:ext>
                  </a:extLst>
                </a:gridCol>
                <a:gridCol w="500270">
                  <a:extLst>
                    <a:ext uri="{9D8B030D-6E8A-4147-A177-3AD203B41FA5}">
                      <a16:colId xmlns:a16="http://schemas.microsoft.com/office/drawing/2014/main" val="1103509030"/>
                    </a:ext>
                  </a:extLst>
                </a:gridCol>
                <a:gridCol w="343087">
                  <a:extLst>
                    <a:ext uri="{9D8B030D-6E8A-4147-A177-3AD203B41FA5}">
                      <a16:colId xmlns:a16="http://schemas.microsoft.com/office/drawing/2014/main" val="4153005806"/>
                    </a:ext>
                  </a:extLst>
                </a:gridCol>
                <a:gridCol w="443018">
                  <a:extLst>
                    <a:ext uri="{9D8B030D-6E8A-4147-A177-3AD203B41FA5}">
                      <a16:colId xmlns:a16="http://schemas.microsoft.com/office/drawing/2014/main" val="197374892"/>
                    </a:ext>
                  </a:extLst>
                </a:gridCol>
                <a:gridCol w="441725">
                  <a:extLst>
                    <a:ext uri="{9D8B030D-6E8A-4147-A177-3AD203B41FA5}">
                      <a16:colId xmlns:a16="http://schemas.microsoft.com/office/drawing/2014/main" val="2697207445"/>
                    </a:ext>
                  </a:extLst>
                </a:gridCol>
                <a:gridCol w="1222871">
                  <a:extLst>
                    <a:ext uri="{9D8B030D-6E8A-4147-A177-3AD203B41FA5}">
                      <a16:colId xmlns:a16="http://schemas.microsoft.com/office/drawing/2014/main" val="2898055860"/>
                    </a:ext>
                  </a:extLst>
                </a:gridCol>
                <a:gridCol w="618141">
                  <a:extLst>
                    <a:ext uri="{9D8B030D-6E8A-4147-A177-3AD203B41FA5}">
                      <a16:colId xmlns:a16="http://schemas.microsoft.com/office/drawing/2014/main" val="3574856170"/>
                    </a:ext>
                  </a:extLst>
                </a:gridCol>
                <a:gridCol w="658956">
                  <a:extLst>
                    <a:ext uri="{9D8B030D-6E8A-4147-A177-3AD203B41FA5}">
                      <a16:colId xmlns:a16="http://schemas.microsoft.com/office/drawing/2014/main" val="3583304273"/>
                    </a:ext>
                  </a:extLst>
                </a:gridCol>
              </a:tblGrid>
              <a:tr h="3656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471" marR="19352" marT="63439" marB="6343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cap="none" spc="0">
                          <a:solidFill>
                            <a:schemeClr val="bg1"/>
                          </a:solidFill>
                          <a:effectLst/>
                        </a:rPr>
                        <a:t>PassengerId</a:t>
                      </a:r>
                    </a:p>
                  </a:txBody>
                  <a:tcPr marL="82471" marR="19352" marT="63439" marB="6343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cap="none" spc="0">
                          <a:solidFill>
                            <a:schemeClr val="bg1"/>
                          </a:solidFill>
                          <a:effectLst/>
                        </a:rPr>
                        <a:t>Pclass</a:t>
                      </a:r>
                    </a:p>
                  </a:txBody>
                  <a:tcPr marL="82471" marR="19352" marT="63439" marB="6343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cap="none" spc="0" dirty="0">
                          <a:solidFill>
                            <a:schemeClr val="bg1"/>
                          </a:solidFill>
                          <a:effectLst/>
                        </a:rPr>
                        <a:t>Name</a:t>
                      </a:r>
                    </a:p>
                  </a:txBody>
                  <a:tcPr marL="82471" marR="19352" marT="63439" marB="6343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cap="none" spc="0" dirty="0">
                          <a:solidFill>
                            <a:schemeClr val="bg1"/>
                          </a:solidFill>
                          <a:effectLst/>
                        </a:rPr>
                        <a:t>Sex</a:t>
                      </a:r>
                    </a:p>
                  </a:txBody>
                  <a:tcPr marL="82471" marR="19352" marT="63439" marB="6343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cap="none" spc="0" dirty="0">
                          <a:solidFill>
                            <a:schemeClr val="bg1"/>
                          </a:solidFill>
                          <a:effectLst/>
                        </a:rPr>
                        <a:t>Age</a:t>
                      </a:r>
                    </a:p>
                  </a:txBody>
                  <a:tcPr marL="82471" marR="19352" marT="63439" marB="6343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cap="none" spc="0" dirty="0" err="1">
                          <a:solidFill>
                            <a:schemeClr val="bg1"/>
                          </a:solidFill>
                          <a:effectLst/>
                        </a:rPr>
                        <a:t>SibSp</a:t>
                      </a:r>
                      <a:endParaRPr lang="en-US" sz="10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471" marR="19352" marT="63439" marB="6343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cap="none" spc="0" dirty="0">
                          <a:solidFill>
                            <a:schemeClr val="bg1"/>
                          </a:solidFill>
                          <a:effectLst/>
                        </a:rPr>
                        <a:t>Parch</a:t>
                      </a:r>
                    </a:p>
                  </a:txBody>
                  <a:tcPr marL="82471" marR="19352" marT="63439" marB="6343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cap="none" spc="0" dirty="0">
                          <a:solidFill>
                            <a:schemeClr val="bg1"/>
                          </a:solidFill>
                          <a:effectLst/>
                        </a:rPr>
                        <a:t>Ticket</a:t>
                      </a:r>
                    </a:p>
                  </a:txBody>
                  <a:tcPr marL="82471" marR="19352" marT="63439" marB="6343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cap="none" spc="0" dirty="0">
                          <a:solidFill>
                            <a:schemeClr val="bg1"/>
                          </a:solidFill>
                          <a:effectLst/>
                        </a:rPr>
                        <a:t>Fare</a:t>
                      </a:r>
                    </a:p>
                  </a:txBody>
                  <a:tcPr marL="82471" marR="19352" marT="63439" marB="6343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cap="none" spc="0" dirty="0">
                          <a:solidFill>
                            <a:schemeClr val="bg1"/>
                          </a:solidFill>
                          <a:effectLst/>
                        </a:rPr>
                        <a:t>Embarked</a:t>
                      </a:r>
                    </a:p>
                  </a:txBody>
                  <a:tcPr marL="82471" marR="19352" marT="63439" marB="6343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916762"/>
                  </a:ext>
                </a:extLst>
              </a:tr>
              <a:tr h="46361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82471" marR="19352" marT="63439" marB="6343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892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Kelly, Mr. James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male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34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330911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7.8292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Q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913162"/>
                  </a:ext>
                </a:extLst>
              </a:tr>
              <a:tr h="46361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893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Wilkes, Mrs. James (Ellen Needs)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  <a:effectLst/>
                        </a:rPr>
                        <a:t>female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47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363272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7.0000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375688"/>
                  </a:ext>
                </a:extLst>
              </a:tr>
              <a:tr h="46361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82471" marR="19352" marT="63439" marB="6343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894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Myles, Mr. Thomas Francis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male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62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240276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  <a:effectLst/>
                        </a:rPr>
                        <a:t>9.6875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Q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137421"/>
                  </a:ext>
                </a:extLst>
              </a:tr>
              <a:tr h="46361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895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Wirz, Mr. Albert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male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27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315154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8.6625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585717"/>
                  </a:ext>
                </a:extLst>
              </a:tr>
              <a:tr h="51658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 marL="82471" marR="19352" marT="63439" marB="6343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896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Hirvonen, Mrs. Alexander (Helga E Lindqvist)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female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22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3101298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12.2875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806288"/>
                  </a:ext>
                </a:extLst>
              </a:tr>
              <a:tr h="34601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  <a:effectLst/>
                        </a:rPr>
                        <a:t>...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...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...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...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...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...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...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...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...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...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...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584047"/>
                  </a:ext>
                </a:extLst>
              </a:tr>
              <a:tr h="46361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  <a:effectLst/>
                        </a:rPr>
                        <a:t>413</a:t>
                      </a:r>
                    </a:p>
                  </a:txBody>
                  <a:tcPr marL="82471" marR="19352" marT="63439" marB="6343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1305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Spector, Mr. Woolf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male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27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A.5. 3236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8.0500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961793"/>
                  </a:ext>
                </a:extLst>
              </a:tr>
              <a:tr h="46361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  <a:effectLst/>
                        </a:rPr>
                        <a:t>414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1306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  <a:effectLst/>
                        </a:rPr>
                        <a:t>Oliva y Ocana, Dona. Fermina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female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39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PC 17758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108.9000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668828"/>
                  </a:ext>
                </a:extLst>
              </a:tr>
              <a:tr h="51658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  <a:effectLst/>
                        </a:rPr>
                        <a:t>415</a:t>
                      </a:r>
                    </a:p>
                  </a:txBody>
                  <a:tcPr marL="82471" marR="19352" marT="63439" marB="6343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1307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Saether, Mr. Simon Sivertsen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male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38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SOTON/O.Q. 3101262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7.2500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5694205"/>
                  </a:ext>
                </a:extLst>
              </a:tr>
              <a:tr h="46361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  <a:effectLst/>
                        </a:rPr>
                        <a:t>416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1308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Ware, Mr. Frederick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male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27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359309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8.0500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109226"/>
                  </a:ext>
                </a:extLst>
              </a:tr>
              <a:tr h="46361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  <a:effectLst/>
                        </a:rPr>
                        <a:t>417</a:t>
                      </a:r>
                    </a:p>
                  </a:txBody>
                  <a:tcPr marL="82471" marR="19352" marT="63439" marB="6343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1309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Peter, Master. Michael J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male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27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2668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22.3583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</a:p>
                  </a:txBody>
                  <a:tcPr marL="82471" marR="19352" marT="63439" marB="6343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1909758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8C0F781D-F346-EFE1-FE1E-0FFDEF3A8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635" y="1012370"/>
            <a:ext cx="2917316" cy="5519781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A501B61C-72AF-DAC1-469B-E4F5AE8FAA5A}"/>
              </a:ext>
            </a:extLst>
          </p:cNvPr>
          <p:cNvSpPr/>
          <p:nvPr/>
        </p:nvSpPr>
        <p:spPr>
          <a:xfrm>
            <a:off x="8202709" y="3535676"/>
            <a:ext cx="1235205" cy="89480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81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09530A-6F0A-FB8C-317D-880A590E5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vi-VN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  <a:endParaRPr lang="en-US" sz="7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042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966</Words>
  <Application>Microsoft Office PowerPoint</Application>
  <PresentationFormat>Widescreen</PresentationFormat>
  <Paragraphs>244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Aptos</vt:lpstr>
      <vt:lpstr>Aptos Display</vt:lpstr>
      <vt:lpstr>Arial</vt:lpstr>
      <vt:lpstr>Menlo</vt:lpstr>
      <vt:lpstr>Times   New Roman</vt:lpstr>
      <vt:lpstr>Times  New Roman</vt:lpstr>
      <vt:lpstr>Times New Roman</vt:lpstr>
      <vt:lpstr>Wingdings</vt:lpstr>
      <vt:lpstr>Office Theme</vt:lpstr>
      <vt:lpstr>Titanic - Machine Learning from Disaster </vt:lpstr>
      <vt:lpstr>MỤC LỤC</vt:lpstr>
      <vt:lpstr>Giới thiệu</vt:lpstr>
      <vt:lpstr>Cấu trúc dữ liệu</vt:lpstr>
      <vt:lpstr>Phương pháp đề xuất</vt:lpstr>
      <vt:lpstr>Khai phá dữ liệu (EDA)</vt:lpstr>
      <vt:lpstr>PowerPoint Presentation</vt:lpstr>
      <vt:lpstr>3. Thống kê mô tả</vt:lpstr>
      <vt:lpstr>3. Thống kê mô tả</vt:lpstr>
      <vt:lpstr>PowerPoint Presentation</vt:lpstr>
      <vt:lpstr>PowerPoint Presentation</vt:lpstr>
      <vt:lpstr>PowerPoint Presentation</vt:lpstr>
      <vt:lpstr>PowerPoint Presentation</vt:lpstr>
      <vt:lpstr>Chọn đặc trưng</vt:lpstr>
      <vt:lpstr>Huấn luyện mô hình</vt:lpstr>
      <vt:lpstr>2. Kết quả và so sánh mô hình  </vt:lpstr>
      <vt:lpstr>Lựa chọn đặc trưng bằng Random Forest</vt:lpstr>
      <vt:lpstr>Dự đoán cho tập test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Thùy Linh Nguyễn Thị</dc:creator>
  <cp:lastModifiedBy>Thùy Linh Nguyễn Thị</cp:lastModifiedBy>
  <cp:revision>7</cp:revision>
  <dcterms:created xsi:type="dcterms:W3CDTF">2025-10-31T00:30:49Z</dcterms:created>
  <dcterms:modified xsi:type="dcterms:W3CDTF">2025-11-01T18:36:44Z</dcterms:modified>
</cp:coreProperties>
</file>